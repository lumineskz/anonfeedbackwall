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notesSlides/notesSlide9.xml" ContentType="application/vnd.openxmlformats-officedocument.presentationml.notesSlide+xml"/>
  <Override PartName="/ppt/ink/ink22.xml" ContentType="application/inkml+xml"/>
  <Override PartName="/ppt/ink/ink23.xml" ContentType="application/inkml+xml"/>
  <Override PartName="/ppt/notesSlides/notesSlide10.xml" ContentType="application/vnd.openxmlformats-officedocument.presentationml.notesSlide+xml"/>
  <Override PartName="/ppt/ink/ink24.xml" ContentType="application/inkml+xml"/>
  <Override PartName="/ppt/ink/ink25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4" r:id="rId11"/>
    <p:sldId id="265" r:id="rId12"/>
    <p:sldId id="266" r:id="rId13"/>
    <p:sldId id="267" r:id="rId14"/>
    <p:sldId id="268" r:id="rId15"/>
    <p:sldId id="271" r:id="rId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2976">
          <p15:clr>
            <a:srgbClr val="747775"/>
          </p15:clr>
        </p15:guide>
        <p15:guide id="4" orient="horz" pos="171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E8D4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6" y="62"/>
      </p:cViewPr>
      <p:guideLst>
        <p:guide orient="horz" pos="1620"/>
        <p:guide pos="2880"/>
        <p:guide pos="2976"/>
        <p:guide orient="horz" pos="17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23.391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2261 24575,'14'0'0,"-1"-1"0,1-1 0,-1-1 0,0 0 0,0 0 0,25-11 0,73-42 0,-52 24 0,12-3 0,84-29 0,219-50 0,-321 98 0,-2-2 0,77-38 0,-6 1 0,-100 45 0,-1-1 0,0-1 0,22-17 0,19-12 0,261-122 0,-208 114 0,100-40 0,-99 45 0,189-69 0,-176 80 0,4 0 0,-30-1 0,178-67 0,-3 4 0,-99 39 0,-27 15 0,0 0 0,157-82 0,-153 59 0,153-41 0,-36 13 0,-238 83 0,0 2 0,0 2 0,0 0 0,62-2 0,5-1 0,-93 9 0,442-67 0,-348 49 0,192-61 0,-261 66 0,36-21 0,5-1 0,106-44 0,-150 73 0,-30 7 0,-1 0 0,0 0 0,1 0 0,-1 0 0,0 0 0,1 0 0,-1 0 0,1 0 0,-1 0 0,0 0 0,1 1 0,-1-1 0,0 0 0,1 0 0,-1 0 0,0 0 0,0 1 0,1-1 0,-1 0 0,0 0 0,1 1 0,-1-1 0,0 0 0,0 1 0,0-1 0,1 1 0,-6 15 0,-13 7 0,-1-1 0,-1 0 0,-1-1 0,-44 33 0,0 2 0,41-33 0,-20 18 0,-2-1 0,-94 63 0,88-70-1365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9.27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0 998 24575,'8'-1'0,"0"0"0,0 0 0,0 0 0,0-1 0,-1 0 0,1-1 0,9-4 0,53-30 0,-26 13 0,16-6 0,114-39 0,162-49 0,-280 96 0,-23 8 0,1 1 0,0 1 0,65-11 0,-38 12 0,109-36 0,-96 25 0,-57 15 0,0 0 0,0-1 0,18-11 0,15-7 0,-10 7 0,116-48 0,-117 55 0,34-14 0,-3-3 0,135-35 0,0 0 0,-159 47 0,146-50 0,-13 10 0,-127 43 0,101-12 0,-95 17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1:09.96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1 363 24570,'6511'-363'0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1:13.523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41 24575,'958'0'0,"-943"-1"0,-1 0 0,0-1 0,1-1 0,-1-1 0,14-5 0,-13 4 0,1 0 0,0 2 0,30-4 0,150 6 0,-89 3 0,21 8 0,-10 0 0,20-12 0,78 4 0,-181 5-1365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2.965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24575,'0'0'-8191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3.539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4.18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4.72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24575,'0'0'-8191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5.192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0:55.88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1:18.127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1 24575,'0'0'-8191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1:18.76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1 1 24575,'0'0'-8191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21:20.240"/>
    </inkml:context>
    <inkml:brush xml:id="br0">
      <inkml:brushProperty name="width" value="0.35" units="cm"/>
      <inkml:brushProperty name="height" value="0.35" units="cm"/>
      <inkml:brushProperty name="color" value="#FFFFFF"/>
    </inkml:brush>
  </inkml:definitions>
  <inkml:trace contextRef="#ctx0" brushRef="#br0">0 0 24575,'0'0'-8191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3:50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24575,'0'3'0,"0"5"0,4 1 0,0 3 0,4 2 0,0 2 0,-1 2 0,2-2 0,-1 0 0,1-3 0,4-4 0,-2 0 0,-2 2 0,-2 3 0,-3 2 0,-2-2-8191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3:54.8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0 222 24575,'1'-4'0,"0"-1"0,1 1 0,0-1 0,0 1 0,0-1 0,0 1 0,0 0 0,1 0 0,0 0 0,0 0 0,0 1 0,0-1 0,7-4 0,15-22 0,-15 14 0,0 1 0,1 1 0,1-1 0,1 2 0,18-18 0,-27 28 0,0 0 0,0 1 0,0-1 0,0 1 0,1 0 0,-1 0 0,0 0 0,1 0 0,0 1 0,-1 0 0,7-1 0,-7 2 0,-1 0 0,1 0 0,-1 1 0,0-1 0,1 1 0,-1-1 0,0 1 0,0 0 0,0 1 0,1-1 0,-1 1 0,0-1 0,-1 1 0,1 0 0,0 0 0,0 0 0,-1 0 0,3 3 0,12 11 0,0 0 0,0-1 0,2-1 0,23 14 0,-39-26-72,0 0 1,1 0-1,-2 1 0,1 0 0,0-1 0,0 1 0,-1 0 0,1 0 1,-1 1-1,0-1 0,0 0 0,0 1 0,-1-1 0,1 1 0,-1 0 1,0-1-1,0 1 0,1 5 0,0 9-6754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4:13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1 180 24575,'0'-3'0,"3"-2"0,2-3 0,-1-4 0,0-3 0,-2-2 0,0-2 0,2 2 0,4 5 0,1 0 0,-1-1 0,-2-2 0,-2-2 0,-2 3-8191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4:15.3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24575,'3'0'0,"5"0"0,5 0 0,3 0 0,2 0 0,2 0 0,0 0 0,1 0 0,-3 3 0,-2 2 0,1-1 0,-4 0-8191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4:17.3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0 131 24575,'0'-3'0,"0"-6"0,3 0 0,5 1 0,5 2 0,-1-1 0,2 0 0,-2-2 0,1 1 0,1-2 0,2 0 0,-2 0 0,0 0 0,1 3 0,2 2 0,-2-2 0,-4 1-8191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4:19.0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62 24575,'3'0'0,"5"0"0,5 0 0,-1-7 0,2-2 0,1 0 0,2 2 0,2 3 0,0 0 0,-2-1 0,-1 0 0,0 1 0,1 1 0,1 1 0,1 1 0,0 0 0,-2 1-8191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4:20.6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24575,'3'0'0,"6"0"0,0 3 0,2 2 0,0 3 0,0 0 0,3-1 0,-1 2 0,0-1 0,1-2 0,-1 1 0,-3 1-8191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30T05:55:33.760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318.70801"/>
      <inkml:brushProperty name="anchorY" value="-1900.55176"/>
      <inkml:brushProperty name="scaleFactor" value="0.5"/>
    </inkml:brush>
  </inkml:definitions>
  <inkml:trace contextRef="#ctx0" brushRef="#br0">1 0 24575,'0'0'0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13:39:29.3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13:39:29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17:04:28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9T17:04:30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30a109a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30a109a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30a109af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30a109af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30a109af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30a109af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30a109af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30a109af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30a109af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30a109af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30a109af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30a109af6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30a109af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30a109af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30a109af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30a109af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30a109af6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30a109af6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0a109af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0a109af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30a109af6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30a109af6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30a109af6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30a109af6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imes New Roman"/>
              <a:buNone/>
              <a:defRPr sz="5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Times New Roman"/>
              <a:buNone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.png"/><Relationship Id="rId18" Type="http://schemas.openxmlformats.org/officeDocument/2006/relationships/customXml" Target="../ink/ink10.xml"/><Relationship Id="rId26" Type="http://schemas.openxmlformats.org/officeDocument/2006/relationships/customXml" Target="../ink/ink16.xml"/><Relationship Id="rId21" Type="http://schemas.openxmlformats.org/officeDocument/2006/relationships/customXml" Target="../ink/ink13.xml"/><Relationship Id="rId34" Type="http://schemas.openxmlformats.org/officeDocument/2006/relationships/customXml" Target="../ink/ink20.xml"/><Relationship Id="rId7" Type="http://schemas.openxmlformats.org/officeDocument/2006/relationships/image" Target="../media/image5.png"/><Relationship Id="rId12" Type="http://schemas.openxmlformats.org/officeDocument/2006/relationships/customXml" Target="../ink/ink5.xml"/><Relationship Id="rId17" Type="http://schemas.openxmlformats.org/officeDocument/2006/relationships/customXml" Target="../ink/ink9.xml"/><Relationship Id="rId25" Type="http://schemas.openxmlformats.org/officeDocument/2006/relationships/image" Target="../media/image10.png"/><Relationship Id="rId3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6" Type="http://schemas.openxmlformats.org/officeDocument/2006/relationships/customXml" Target="../ink/ink8.xml"/><Relationship Id="rId20" Type="http://schemas.openxmlformats.org/officeDocument/2006/relationships/customXml" Target="../ink/ink12.xml"/><Relationship Id="rId29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2.xml"/><Relationship Id="rId11" Type="http://schemas.openxmlformats.org/officeDocument/2006/relationships/image" Target="../media/image7.png"/><Relationship Id="rId24" Type="http://schemas.openxmlformats.org/officeDocument/2006/relationships/customXml" Target="../ink/ink15.xml"/><Relationship Id="rId32" Type="http://schemas.openxmlformats.org/officeDocument/2006/relationships/customXml" Target="../ink/ink19.xml"/><Relationship Id="rId37" Type="http://schemas.openxmlformats.org/officeDocument/2006/relationships/image" Target="../media/image16.png"/><Relationship Id="rId5" Type="http://schemas.openxmlformats.org/officeDocument/2006/relationships/image" Target="../media/image4.png"/><Relationship Id="rId15" Type="http://schemas.openxmlformats.org/officeDocument/2006/relationships/customXml" Target="../ink/ink7.xml"/><Relationship Id="rId23" Type="http://schemas.openxmlformats.org/officeDocument/2006/relationships/image" Target="../media/image9.png"/><Relationship Id="rId28" Type="http://schemas.openxmlformats.org/officeDocument/2006/relationships/customXml" Target="../ink/ink17.xml"/><Relationship Id="rId36" Type="http://schemas.openxmlformats.org/officeDocument/2006/relationships/customXml" Target="../ink/ink21.xml"/><Relationship Id="rId10" Type="http://schemas.openxmlformats.org/officeDocument/2006/relationships/customXml" Target="../ink/ink4.xml"/><Relationship Id="rId19" Type="http://schemas.openxmlformats.org/officeDocument/2006/relationships/customXml" Target="../ink/ink11.xml"/><Relationship Id="rId31" Type="http://schemas.openxmlformats.org/officeDocument/2006/relationships/image" Target="../media/image13.png"/><Relationship Id="rId4" Type="http://schemas.openxmlformats.org/officeDocument/2006/relationships/customXml" Target="../ink/ink1.xml"/><Relationship Id="rId9" Type="http://schemas.openxmlformats.org/officeDocument/2006/relationships/image" Target="../media/image6.png"/><Relationship Id="rId14" Type="http://schemas.openxmlformats.org/officeDocument/2006/relationships/customXml" Target="../ink/ink6.xml"/><Relationship Id="rId22" Type="http://schemas.openxmlformats.org/officeDocument/2006/relationships/customXml" Target="../ink/ink14.xml"/><Relationship Id="rId27" Type="http://schemas.openxmlformats.org/officeDocument/2006/relationships/image" Target="../media/image11.png"/><Relationship Id="rId30" Type="http://schemas.openxmlformats.org/officeDocument/2006/relationships/customXml" Target="../ink/ink18.xml"/><Relationship Id="rId35" Type="http://schemas.openxmlformats.org/officeDocument/2006/relationships/image" Target="../media/image15.png"/><Relationship Id="rId8" Type="http://schemas.openxmlformats.org/officeDocument/2006/relationships/customXml" Target="../ink/ink3.xml"/><Relationship Id="rId3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customXml" Target="../ink/ink23.xml"/><Relationship Id="rId3" Type="http://schemas.openxmlformats.org/officeDocument/2006/relationships/customXml" Target="../ink/ink22.xml"/><Relationship Id="rId12" Type="http://schemas.openxmlformats.org/officeDocument/2006/relationships/image" Target="../media/image1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14" Type="http://schemas.openxmlformats.org/officeDocument/2006/relationships/image" Target="../media/image18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2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customXml" Target="../ink/ink25.xml"/><Relationship Id="rId4" Type="http://schemas.openxmlformats.org/officeDocument/2006/relationships/image" Target="../media/image1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95725" y="768149"/>
            <a:ext cx="6593700" cy="130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dirty="0"/>
              <a:t>Anonymous Feedback wall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9425" y="239550"/>
            <a:ext cx="1769000" cy="17857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0" y="239550"/>
            <a:ext cx="39693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latin typeface="Times New Roman"/>
                <a:ea typeface="Times New Roman"/>
                <a:cs typeface="Times New Roman"/>
                <a:sym typeface="Times New Roman"/>
              </a:rPr>
              <a:t>Proposal</a:t>
            </a:r>
            <a:r>
              <a:rPr lang="en" sz="23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Defense on</a:t>
            </a:r>
            <a:endParaRPr sz="2300"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366225" y="3066325"/>
            <a:ext cx="3292200" cy="907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5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by:</a:t>
            </a:r>
            <a:endParaRPr sz="235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latin typeface="Times New Roman"/>
                <a:ea typeface="Times New Roman"/>
                <a:cs typeface="Times New Roman"/>
                <a:sym typeface="Times New Roman"/>
              </a:rPr>
              <a:t>Mr. Bipin Maharjan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3066325"/>
            <a:ext cx="4414200" cy="1582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by:</a:t>
            </a:r>
            <a:endParaRPr sz="280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Shulabh Shrestha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BCSIT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2024-2-08-0747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Uniglobe College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66225" y="4301475"/>
            <a:ext cx="3180900" cy="5286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Date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30</a:t>
            </a:r>
            <a:r>
              <a:rPr lang="en" sz="2100" b="1" baseline="30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November 202</a:t>
            </a: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BFA1AE4-F032-9FD0-AA42-845956D0AE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</a:t>
            </a:fld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500558" y="210457"/>
            <a:ext cx="8520600" cy="9420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400" dirty="0"/>
              <a:t>Outline</a:t>
            </a:r>
            <a:endParaRPr sz="4400" dirty="0"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Introduction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Statement of Problem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Objectives of the Project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Scope of the Project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Proposed System Overview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System Design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Proposed Methodology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Tools and Technologies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Expected Outcomes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Project Timeline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References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1827FD5-22D1-B7B6-3A44-74C8ACEC3E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Web-based platform for collecting anonymous feedback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Ensured privacy and security for users submitting opinions.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Enables organizations, schools and workplaces to gather honest input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using PHP, HTML, CSS and JavaScript for functionality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91256C-8B90-3EB4-22AB-72976CAFF6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Statement of Problem</a:t>
            </a:r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People hesitate to give honest feedback due to fear of judgement or exposure.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Lack of secure, </a:t>
            </a:r>
            <a:r>
              <a:rPr lang="en-US"/>
              <a:t>anonymous platforms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/>
              <a:t>Target </a:t>
            </a:r>
            <a:r>
              <a:rPr lang="en-US" dirty="0"/>
              <a:t>users: Students, employees and organizations seeking genuine  feedbacks.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799B0E-440F-F4C5-C8CE-2C49CDD2AE0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Objectives of the Project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enable users to submit feedback anonymously(or non-anonymously) and securely.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provide administrators with an organized system to view and manage collected feedback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A5025F-AF3F-B67C-A5F2-40A28127655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Scope of the Project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What it includes:</a:t>
            </a:r>
          </a:p>
          <a:p>
            <a:r>
              <a:rPr lang="en-US" dirty="0"/>
              <a:t>Web-based platform for submitting and viewing anonymous feedback</a:t>
            </a:r>
          </a:p>
          <a:p>
            <a:r>
              <a:rPr lang="en-US" dirty="0"/>
              <a:t>Database storage for feedback entries</a:t>
            </a:r>
          </a:p>
          <a:p>
            <a:r>
              <a:rPr lang="en-US" dirty="0"/>
              <a:t>User authentication for administrators</a:t>
            </a:r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Limitations:</a:t>
            </a:r>
          </a:p>
          <a:p>
            <a:r>
              <a:rPr lang="en-US" dirty="0"/>
              <a:t>Advanced analytics or reporting tools</a:t>
            </a:r>
          </a:p>
          <a:p>
            <a:r>
              <a:rPr lang="en-US" dirty="0"/>
              <a:t>Notification system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C168B6E-8A0D-6A7B-B368-DBFB336DD5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27B4F48-967A-3181-1846-CC8A8F066E4E}"/>
              </a:ext>
            </a:extLst>
          </p:cNvPr>
          <p:cNvSpPr/>
          <p:nvPr/>
        </p:nvSpPr>
        <p:spPr>
          <a:xfrm>
            <a:off x="-79829" y="-21771"/>
            <a:ext cx="3810000" cy="5312228"/>
          </a:xfrm>
          <a:prstGeom prst="rect">
            <a:avLst/>
          </a:prstGeom>
          <a:solidFill>
            <a:srgbClr val="D5E8D4"/>
          </a:solidFill>
          <a:ln>
            <a:solidFill>
              <a:srgbClr val="D5E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276F0B3-E3FE-F044-AEAD-C0F46C4921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0666" y="-21771"/>
            <a:ext cx="3324724" cy="51797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2D8A83F-F8F1-0C18-8FB2-BF5131D82638}"/>
              </a:ext>
            </a:extLst>
          </p:cNvPr>
          <p:cNvSpPr txBox="1"/>
          <p:nvPr/>
        </p:nvSpPr>
        <p:spPr>
          <a:xfrm>
            <a:off x="4165600" y="1494971"/>
            <a:ext cx="1255486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Register user, redirect to login page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9569F-F06B-4A0E-636D-11682AABE8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Proposed System Overview</a:t>
            </a:r>
            <a:endParaRPr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B52B31-B5CF-9300-8E64-05729B4DF2BE}"/>
              </a:ext>
            </a:extLst>
          </p:cNvPr>
          <p:cNvSpPr/>
          <p:nvPr/>
        </p:nvSpPr>
        <p:spPr>
          <a:xfrm>
            <a:off x="6916056" y="-154214"/>
            <a:ext cx="3810000" cy="5312228"/>
          </a:xfrm>
          <a:prstGeom prst="rect">
            <a:avLst/>
          </a:prstGeom>
          <a:solidFill>
            <a:srgbClr val="D5E8D4"/>
          </a:solidFill>
          <a:ln>
            <a:solidFill>
              <a:srgbClr val="D5E8D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>
            <a:spLocks noGrp="1"/>
          </p:cNvSpPr>
          <p:nvPr>
            <p:ph type="title"/>
          </p:nvPr>
        </p:nvSpPr>
        <p:spPr>
          <a:xfrm>
            <a:off x="0" y="-46301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Design</a:t>
            </a:r>
            <a:endParaRPr dirty="0"/>
          </a:p>
        </p:txBody>
      </p:sp>
      <p:sp>
        <p:nvSpPr>
          <p:cNvPr id="101" name="Google Shape;101;p20"/>
          <p:cNvSpPr txBox="1">
            <a:spLocks noGrp="1"/>
          </p:cNvSpPr>
          <p:nvPr>
            <p:ph type="body" idx="1"/>
          </p:nvPr>
        </p:nvSpPr>
        <p:spPr>
          <a:xfrm>
            <a:off x="311700" y="86420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 Slides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DFD (Data Flow Diagram)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Case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ER Diagram (Entity Relationship Diagram) for database design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7AC17-D018-5D6D-6A56-17BE9B9B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"/>
            <a:ext cx="9144000" cy="5203371"/>
          </a:xfrm>
          <a:prstGeom prst="rect">
            <a:avLst/>
          </a:prstGeom>
        </p:spPr>
      </p:pic>
      <p:sp>
        <p:nvSpPr>
          <p:cNvPr id="4" name="Google Shape;100;p20">
            <a:extLst>
              <a:ext uri="{FF2B5EF4-FFF2-40B4-BE49-F238E27FC236}">
                <a16:creationId xmlns:a16="http://schemas.microsoft.com/office/drawing/2014/main" id="{FD564547-6271-AAE3-DBF7-8C8EB288CD4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Use case diagram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4B557F-03BA-4763-6E49-C1EB0A6C967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374942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677DE9C2-5EEC-5F15-C8B2-72F2D03A6B1B}"/>
                  </a:ext>
                </a:extLst>
              </p14:cNvPr>
              <p14:cNvContentPartPr/>
              <p14:nvPr/>
            </p14:nvContentPartPr>
            <p14:xfrm>
              <a:off x="3591646" y="2192102"/>
              <a:ext cx="2353320" cy="8143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677DE9C2-5EEC-5F15-C8B2-72F2D03A6B1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29006" y="2129462"/>
                <a:ext cx="2478960" cy="93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FC050256-AAA3-0B18-4F7B-9B86A894F19B}"/>
                  </a:ext>
                </a:extLst>
              </p14:cNvPr>
              <p14:cNvContentPartPr/>
              <p14:nvPr/>
            </p14:nvContentPartPr>
            <p14:xfrm>
              <a:off x="4448446" y="2392982"/>
              <a:ext cx="1051920" cy="35928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FC050256-AAA3-0B18-4F7B-9B86A894F19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385446" y="2329982"/>
                <a:ext cx="1177560" cy="48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BEA08AAB-4CAA-7462-414D-1B003114E1EF}"/>
                  </a:ext>
                </a:extLst>
              </p14:cNvPr>
              <p14:cNvContentPartPr/>
              <p14:nvPr/>
            </p14:nvContentPartPr>
            <p14:xfrm>
              <a:off x="3591646" y="2113622"/>
              <a:ext cx="2344320" cy="130680"/>
            </p14:xfrm>
          </p:contentPart>
        </mc:Choice>
        <mc:Fallback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BEA08AAB-4CAA-7462-414D-1B003114E1E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529006" y="2050622"/>
                <a:ext cx="246996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EB96122-D90A-D86D-3EB8-902728ADC104}"/>
                  </a:ext>
                </a:extLst>
              </p14:cNvPr>
              <p14:cNvContentPartPr/>
              <p14:nvPr/>
            </p14:nvContentPartPr>
            <p14:xfrm>
              <a:off x="4223446" y="2106062"/>
              <a:ext cx="752400" cy="1512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EB96122-D90A-D86D-3EB8-902728ADC104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160446" y="2043062"/>
                <a:ext cx="878040" cy="140760"/>
              </a:xfrm>
              <a:prstGeom prst="rect">
                <a:avLst/>
              </a:prstGeom>
            </p:spPr>
          </p:pic>
        </mc:Fallback>
      </mc:AlternateContent>
      <p:grpSp>
        <p:nvGrpSpPr>
          <p:cNvPr id="31" name="Group 30">
            <a:extLst>
              <a:ext uri="{FF2B5EF4-FFF2-40B4-BE49-F238E27FC236}">
                <a16:creationId xmlns:a16="http://schemas.microsoft.com/office/drawing/2014/main" id="{9FF681E1-CAB1-3DE5-A667-CAF4953C2592}"/>
              </a:ext>
            </a:extLst>
          </p:cNvPr>
          <p:cNvGrpSpPr/>
          <p:nvPr/>
        </p:nvGrpSpPr>
        <p:grpSpPr>
          <a:xfrm>
            <a:off x="5776486" y="2019302"/>
            <a:ext cx="471960" cy="189000"/>
            <a:chOff x="5776486" y="2307577"/>
            <a:chExt cx="471960" cy="18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FC738CC-8482-843B-D06C-C34C142D3DA4}"/>
                    </a:ext>
                  </a:extLst>
                </p14:cNvPr>
                <p14:cNvContentPartPr/>
                <p14:nvPr/>
              </p14:nvContentPartPr>
              <p14:xfrm>
                <a:off x="6052246" y="2496217"/>
                <a:ext cx="360" cy="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FC738CC-8482-843B-D06C-C34C142D3DA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989246" y="243321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2E13F2E-BA03-E8A2-E04A-02452ADDCC77}"/>
                    </a:ext>
                  </a:extLst>
                </p14:cNvPr>
                <p14:cNvContentPartPr/>
                <p14:nvPr/>
              </p14:nvContentPartPr>
              <p14:xfrm>
                <a:off x="6139366" y="2467057"/>
                <a:ext cx="360" cy="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2E13F2E-BA03-E8A2-E04A-02452ADDCC7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076366" y="240405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73B8713-D5FE-FBF5-B2D0-C83C279C0498}"/>
                    </a:ext>
                  </a:extLst>
                </p14:cNvPr>
                <p14:cNvContentPartPr/>
                <p14:nvPr/>
              </p14:nvContentPartPr>
              <p14:xfrm>
                <a:off x="6175726" y="2459857"/>
                <a:ext cx="360" cy="3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73B8713-D5FE-FBF5-B2D0-C83C279C049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12726" y="239685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394CAF0-08F9-EB19-7523-0AB6C40570DC}"/>
                    </a:ext>
                  </a:extLst>
                </p14:cNvPr>
                <p14:cNvContentPartPr/>
                <p14:nvPr/>
              </p14:nvContentPartPr>
              <p14:xfrm>
                <a:off x="6190126" y="2459857"/>
                <a:ext cx="360" cy="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394CAF0-08F9-EB19-7523-0AB6C40570D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27126" y="239685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4265347-9AE7-BCC2-6C41-014495B484E4}"/>
                    </a:ext>
                  </a:extLst>
                </p14:cNvPr>
                <p14:cNvContentPartPr/>
                <p14:nvPr/>
              </p14:nvContentPartPr>
              <p14:xfrm>
                <a:off x="6248086" y="2452657"/>
                <a:ext cx="360" cy="3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4265347-9AE7-BCC2-6C41-014495B484E4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85086" y="238965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267423D-2B3F-E96F-2084-892FBC7DF95D}"/>
                    </a:ext>
                  </a:extLst>
                </p14:cNvPr>
                <p14:cNvContentPartPr/>
                <p14:nvPr/>
              </p14:nvContentPartPr>
              <p14:xfrm>
                <a:off x="6248086" y="2452657"/>
                <a:ext cx="360" cy="3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267423D-2B3F-E96F-2084-892FBC7DF95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185086" y="238965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3AA8DFD-5FDE-FE73-5365-470FB4EEB826}"/>
                    </a:ext>
                  </a:extLst>
                </p14:cNvPr>
                <p14:cNvContentPartPr/>
                <p14:nvPr/>
              </p14:nvContentPartPr>
              <p14:xfrm>
                <a:off x="5863606" y="2307577"/>
                <a:ext cx="360" cy="3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3AA8DFD-5FDE-FE73-5365-470FB4EEB82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00606" y="224493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7AD7F9A-4692-5F55-9A8F-476A7BD0BD4D}"/>
                    </a:ext>
                  </a:extLst>
                </p14:cNvPr>
                <p14:cNvContentPartPr/>
                <p14:nvPr/>
              </p14:nvContentPartPr>
              <p14:xfrm>
                <a:off x="5776486" y="2314777"/>
                <a:ext cx="360" cy="3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7AD7F9A-4692-5F55-9A8F-476A7BD0BD4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713846" y="225213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1B7B138-7535-CD1A-1926-A4CFDDC3900A}"/>
                    </a:ext>
                  </a:extLst>
                </p14:cNvPr>
                <p14:cNvContentPartPr/>
                <p14:nvPr/>
              </p14:nvContentPartPr>
              <p14:xfrm>
                <a:off x="5907166" y="2358337"/>
                <a:ext cx="360" cy="3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1B7B138-7535-CD1A-1926-A4CFDDC3900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844166" y="2295337"/>
                  <a:ext cx="126000" cy="12600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43E4CD3-4C39-7584-7C66-8FD038C464E8}"/>
              </a:ext>
            </a:extLst>
          </p:cNvPr>
          <p:cNvCxnSpPr>
            <a:cxnSpLocks/>
          </p:cNvCxnSpPr>
          <p:nvPr/>
        </p:nvCxnSpPr>
        <p:spPr>
          <a:xfrm flipV="1">
            <a:off x="3489960" y="1609105"/>
            <a:ext cx="4982498" cy="1397317"/>
          </a:xfrm>
          <a:prstGeom prst="line">
            <a:avLst/>
          </a:prstGeom>
          <a:ln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6684EA2-BC5F-6E16-AEAF-75CED2A133ED}"/>
              </a:ext>
            </a:extLst>
          </p:cNvPr>
          <p:cNvCxnSpPr/>
          <p:nvPr/>
        </p:nvCxnSpPr>
        <p:spPr>
          <a:xfrm flipV="1">
            <a:off x="3489960" y="1609105"/>
            <a:ext cx="4982498" cy="6743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FC55A1B8-2FDF-F117-D98C-557FA3F437E7}"/>
                  </a:ext>
                </a:extLst>
              </p14:cNvPr>
              <p14:cNvContentPartPr/>
              <p14:nvPr/>
            </p14:nvContentPartPr>
            <p14:xfrm>
              <a:off x="6567371" y="2084314"/>
              <a:ext cx="37440" cy="72000"/>
            </p14:xfrm>
          </p:contentPart>
        </mc:Choice>
        <mc:Fallback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FC55A1B8-2FDF-F117-D98C-557FA3F437E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561251" y="2078194"/>
                <a:ext cx="49680" cy="84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42291266-2D64-C83C-E20D-19ADBDA307E2}"/>
                  </a:ext>
                </a:extLst>
              </p14:cNvPr>
              <p14:cNvContentPartPr/>
              <p14:nvPr/>
            </p14:nvContentPartPr>
            <p14:xfrm>
              <a:off x="6770771" y="2062714"/>
              <a:ext cx="153720" cy="8028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42291266-2D64-C83C-E20D-19ADBDA307E2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6764651" y="2056594"/>
                <a:ext cx="16596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C4FA904D-54C0-0E38-65BC-361EDD95AB83}"/>
              </a:ext>
            </a:extLst>
          </p:cNvPr>
          <p:cNvGrpSpPr/>
          <p:nvPr/>
        </p:nvGrpSpPr>
        <p:grpSpPr>
          <a:xfrm>
            <a:off x="4956371" y="1548274"/>
            <a:ext cx="233280" cy="256320"/>
            <a:chOff x="4956371" y="1836549"/>
            <a:chExt cx="233280" cy="25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3E3CC6E-C09A-D41B-FB36-9DDDF0969868}"/>
                    </a:ext>
                  </a:extLst>
                </p14:cNvPr>
                <p14:cNvContentPartPr/>
                <p14:nvPr/>
              </p14:nvContentPartPr>
              <p14:xfrm>
                <a:off x="5123051" y="1836549"/>
                <a:ext cx="22320" cy="648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3E3CC6E-C09A-D41B-FB36-9DDDF0969868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116931" y="1830429"/>
                  <a:ext cx="3456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F142724-AB4E-B6EC-52E6-F29CF8ECEC7B}"/>
                    </a:ext>
                  </a:extLst>
                </p14:cNvPr>
                <p14:cNvContentPartPr/>
                <p14:nvPr/>
              </p14:nvContentPartPr>
              <p14:xfrm>
                <a:off x="5123051" y="1908549"/>
                <a:ext cx="66600" cy="61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F142724-AB4E-B6EC-52E6-F29CF8ECEC7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116931" y="1902429"/>
                  <a:ext cx="7884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AB16949-13E1-D687-DCED-58133D52C709}"/>
                    </a:ext>
                  </a:extLst>
                </p14:cNvPr>
                <p14:cNvContentPartPr/>
                <p14:nvPr/>
              </p14:nvContentPartPr>
              <p14:xfrm>
                <a:off x="4985531" y="1992069"/>
                <a:ext cx="69120" cy="47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AB16949-13E1-D687-DCED-58133D52C70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79411" y="1985949"/>
                  <a:ext cx="813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E076661-FD84-519E-E82A-32C053E2B0DA}"/>
                    </a:ext>
                  </a:extLst>
                </p14:cNvPr>
                <p14:cNvContentPartPr/>
                <p14:nvPr/>
              </p14:nvContentPartPr>
              <p14:xfrm>
                <a:off x="4971131" y="2031309"/>
                <a:ext cx="93600" cy="223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E076661-FD84-519E-E82A-32C053E2B0D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965011" y="2025189"/>
                  <a:ext cx="10584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B04E9B6-D841-5892-E801-6FC22FB23589}"/>
                    </a:ext>
                  </a:extLst>
                </p14:cNvPr>
                <p14:cNvContentPartPr/>
                <p14:nvPr/>
              </p14:nvContentPartPr>
              <p14:xfrm>
                <a:off x="4956371" y="2067669"/>
                <a:ext cx="47520" cy="252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B04E9B6-D841-5892-E801-6FC22FB2358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50251" y="2061549"/>
                  <a:ext cx="59760" cy="37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xmlns:aink="http://schemas.microsoft.com/office/drawing/2016/ink" Requires="p14 aink">
          <p:contentPart p14:bwMode="auto" r:id="rId3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894E3099-FB6A-0617-68BD-C3671F6952A2}"/>
                  </a:ext>
                </a:extLst>
              </p14:cNvPr>
              <p14:cNvContentPartPr/>
              <p14:nvPr/>
            </p14:nvContentPartPr>
            <p14:xfrm>
              <a:off x="1603331" y="408154"/>
              <a:ext cx="360" cy="3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894E3099-FB6A-0617-68BD-C3671F6952A2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1594691" y="399154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C1B38-BAD6-1674-EBCF-18A66E8F5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3D2C6-222A-010B-45BF-5CA77EA1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00240" cy="51435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62909-65F9-DD69-E1F9-12555E01B13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ED1E71-B19C-BA35-473B-91929E1C6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4380" y="-97710"/>
            <a:ext cx="8520600" cy="572700"/>
          </a:xfrm>
        </p:spPr>
        <p:txBody>
          <a:bodyPr>
            <a:normAutofit/>
          </a:bodyPr>
          <a:lstStyle/>
          <a:p>
            <a:r>
              <a:rPr lang="en-US" sz="1800" dirty="0"/>
              <a:t>ER DIAGRAM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FBD5D2-8E31-7FBF-7D5F-CA3B3A45CD38}"/>
              </a:ext>
            </a:extLst>
          </p:cNvPr>
          <p:cNvSpPr/>
          <p:nvPr/>
        </p:nvSpPr>
        <p:spPr>
          <a:xfrm>
            <a:off x="6879771" y="0"/>
            <a:ext cx="2373086" cy="5290457"/>
          </a:xfrm>
          <a:prstGeom prst="rect">
            <a:avLst/>
          </a:prstGeom>
          <a:solidFill>
            <a:srgbClr val="FFF2CC"/>
          </a:solidFill>
          <a:ln>
            <a:solidFill>
              <a:srgbClr val="FFF2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583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Proposed Methodology</a:t>
            </a:r>
            <a:endParaRPr dirty="0"/>
          </a:p>
        </p:txBody>
      </p:sp>
      <p:sp>
        <p:nvSpPr>
          <p:cNvPr id="107" name="Google Shape;10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Waterfall model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Outline of Development Stages :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D67D797-553D-F154-AAA7-364FBA9D4F25}"/>
                  </a:ext>
                </a:extLst>
              </p14:cNvPr>
              <p14:cNvContentPartPr/>
              <p14:nvPr/>
            </p14:nvContentPartPr>
            <p14:xfrm>
              <a:off x="-784154" y="2082520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D67D797-553D-F154-AAA7-364FBA9D4F25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-790274" y="2076400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00FC075-1246-224F-BD43-8ED273E01C47}"/>
                  </a:ext>
                </a:extLst>
              </p14:cNvPr>
              <p14:cNvContentPartPr/>
              <p14:nvPr/>
            </p14:nvContentPartPr>
            <p14:xfrm>
              <a:off x="-820440" y="2082520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00FC075-1246-224F-BD43-8ED273E01C4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-826560" y="207640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5B5005-EAB5-D544-5D77-11E01A1EBA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  <p:pic>
        <p:nvPicPr>
          <p:cNvPr id="1026" name="Picture 2" descr="SDLC - Waterfall Model">
            <a:extLst>
              <a:ext uri="{FF2B5EF4-FFF2-40B4-BE49-F238E27FC236}">
                <a16:creationId xmlns:a16="http://schemas.microsoft.com/office/drawing/2014/main" id="{669B6B55-0E96-84B3-A0D9-D3FAD21B61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884" y="1303795"/>
            <a:ext cx="4955987" cy="3312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Tools and Technologies</a:t>
            </a:r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Programming Language: PHP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Database: MySQL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Front-end: HTML, CSS, JavaScript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Server: Apache 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69E6A70-BBB6-D5FD-C599-42CDD574B48D}"/>
                  </a:ext>
                </a:extLst>
              </p14:cNvPr>
              <p14:cNvContentPartPr/>
              <p14:nvPr/>
            </p14:nvContentPartPr>
            <p14:xfrm>
              <a:off x="4397686" y="2684857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69E6A70-BBB6-D5FD-C599-42CDD574B4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91566" y="2678737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EF523B8-751E-FD90-EC70-6240DED73AFC}"/>
                  </a:ext>
                </a:extLst>
              </p14:cNvPr>
              <p14:cNvContentPartPr/>
              <p14:nvPr/>
            </p14:nvContentPartPr>
            <p14:xfrm>
              <a:off x="3707926" y="2786377"/>
              <a:ext cx="360" cy="3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EF523B8-751E-FD90-EC70-6240DED73AF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01806" y="2780257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68E53-C611-B2CF-D2D2-FA21A63331C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Outcomes</a:t>
            </a:r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user and admin log in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Correct anonymity toggle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submission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Successfully viewing feedbacks that were submitted by the users sharing a common group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administrative actions such as deleting feedbacks and users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F56B6E-D669-FF18-009C-47BB927351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Timeline (Gantt Chart)</a:t>
            </a:r>
            <a:endParaRPr dirty="0"/>
          </a:p>
        </p:txBody>
      </p:sp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Gantt chart diagram only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9FEC96-6271-AF15-2B36-AE8F34EA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882133"/>
            <a:ext cx="6773220" cy="4163006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4EBE98-DDD0-880B-B8A4-490B3BF5D26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53117C-339F-7698-08FC-F9568CF211B7}"/>
              </a:ext>
            </a:extLst>
          </p:cNvPr>
          <p:cNvSpPr/>
          <p:nvPr/>
        </p:nvSpPr>
        <p:spPr>
          <a:xfrm>
            <a:off x="6226629" y="2069592"/>
            <a:ext cx="265610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9BBD77-BB75-3FB6-A679-D7C28AE446CA}"/>
              </a:ext>
            </a:extLst>
          </p:cNvPr>
          <p:cNvSpPr/>
          <p:nvPr/>
        </p:nvSpPr>
        <p:spPr>
          <a:xfrm>
            <a:off x="4132581" y="2895057"/>
            <a:ext cx="279400" cy="61503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6FEF6-9664-E526-4F05-A448214CC425}"/>
              </a:ext>
            </a:extLst>
          </p:cNvPr>
          <p:cNvSpPr/>
          <p:nvPr/>
        </p:nvSpPr>
        <p:spPr>
          <a:xfrm>
            <a:off x="6492239" y="1987250"/>
            <a:ext cx="183895" cy="4571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A29A8C-6B23-8CD0-509E-0C8BF1D4C559}"/>
              </a:ext>
            </a:extLst>
          </p:cNvPr>
          <p:cNvSpPr/>
          <p:nvPr/>
        </p:nvSpPr>
        <p:spPr>
          <a:xfrm>
            <a:off x="3644970" y="3176997"/>
            <a:ext cx="20313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3BBCE6-0EDC-D117-BCA7-360BDBEAC7A8}"/>
              </a:ext>
            </a:extLst>
          </p:cNvPr>
          <p:cNvSpPr/>
          <p:nvPr/>
        </p:nvSpPr>
        <p:spPr>
          <a:xfrm>
            <a:off x="3418980" y="3918656"/>
            <a:ext cx="203130" cy="4626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826660-97BD-C339-AEB7-963188CB42A7}"/>
              </a:ext>
            </a:extLst>
          </p:cNvPr>
          <p:cNvSpPr/>
          <p:nvPr/>
        </p:nvSpPr>
        <p:spPr>
          <a:xfrm>
            <a:off x="3644970" y="3090275"/>
            <a:ext cx="309810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CE2343-1D28-E4C7-EDA1-3ECD74761E3C}"/>
              </a:ext>
            </a:extLst>
          </p:cNvPr>
          <p:cNvSpPr/>
          <p:nvPr/>
        </p:nvSpPr>
        <p:spPr>
          <a:xfrm>
            <a:off x="3893820" y="2995933"/>
            <a:ext cx="309810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963750-7196-A210-3D36-03412901CA57}"/>
              </a:ext>
            </a:extLst>
          </p:cNvPr>
          <p:cNvSpPr/>
          <p:nvPr/>
        </p:nvSpPr>
        <p:spPr>
          <a:xfrm>
            <a:off x="3418980" y="3918655"/>
            <a:ext cx="20313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4700DC-37A4-9BFD-1585-24825CE9CCDD}"/>
              </a:ext>
            </a:extLst>
          </p:cNvPr>
          <p:cNvSpPr/>
          <p:nvPr/>
        </p:nvSpPr>
        <p:spPr>
          <a:xfrm>
            <a:off x="3317415" y="4015305"/>
            <a:ext cx="20313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F2DAE5-A6D3-ADBA-DCA0-166F870EC4E5}"/>
              </a:ext>
            </a:extLst>
          </p:cNvPr>
          <p:cNvSpPr/>
          <p:nvPr/>
        </p:nvSpPr>
        <p:spPr>
          <a:xfrm>
            <a:off x="3208230" y="4104334"/>
            <a:ext cx="20313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3FA237-8B5D-B712-977F-592632257348}"/>
              </a:ext>
            </a:extLst>
          </p:cNvPr>
          <p:cNvSpPr/>
          <p:nvPr/>
        </p:nvSpPr>
        <p:spPr>
          <a:xfrm>
            <a:off x="7269620" y="3880826"/>
            <a:ext cx="279400" cy="6150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70F3F4-64BB-0B81-716E-BCCE14F8AC7C}"/>
              </a:ext>
            </a:extLst>
          </p:cNvPr>
          <p:cNvSpPr txBox="1"/>
          <p:nvPr/>
        </p:nvSpPr>
        <p:spPr>
          <a:xfrm>
            <a:off x="7549020" y="3773152"/>
            <a:ext cx="7569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complete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E128B5-FD23-9BFA-128F-A3C630B2B7E9}"/>
              </a:ext>
            </a:extLst>
          </p:cNvPr>
          <p:cNvSpPr/>
          <p:nvPr/>
        </p:nvSpPr>
        <p:spPr>
          <a:xfrm>
            <a:off x="7269620" y="4130480"/>
            <a:ext cx="279400" cy="61503"/>
          </a:xfrm>
          <a:prstGeom prst="rect">
            <a:avLst/>
          </a:prstGeom>
          <a:solidFill>
            <a:schemeClr val="accent6"/>
          </a:solidFill>
          <a:ln>
            <a:solidFill>
              <a:schemeClr val="accent6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E02C97-E7CE-10BC-BD41-4B9119ADC64C}"/>
              </a:ext>
            </a:extLst>
          </p:cNvPr>
          <p:cNvSpPr txBox="1"/>
          <p:nvPr/>
        </p:nvSpPr>
        <p:spPr>
          <a:xfrm>
            <a:off x="7592073" y="4030426"/>
            <a:ext cx="88838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In progress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C332E1-1399-B611-3145-DB7A86BC3917}"/>
              </a:ext>
            </a:extLst>
          </p:cNvPr>
          <p:cNvSpPr/>
          <p:nvPr/>
        </p:nvSpPr>
        <p:spPr>
          <a:xfrm>
            <a:off x="3644970" y="3270744"/>
            <a:ext cx="6597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E3003E0-D698-7BD2-4467-D9F9BC918353}"/>
              </a:ext>
            </a:extLst>
          </p:cNvPr>
          <p:cNvSpPr/>
          <p:nvPr/>
        </p:nvSpPr>
        <p:spPr>
          <a:xfrm>
            <a:off x="3644970" y="3381121"/>
            <a:ext cx="6597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505EA-53FF-EC86-F2D5-E5AADC04147A}"/>
              </a:ext>
            </a:extLst>
          </p:cNvPr>
          <p:cNvSpPr/>
          <p:nvPr/>
        </p:nvSpPr>
        <p:spPr>
          <a:xfrm>
            <a:off x="3634845" y="3468366"/>
            <a:ext cx="6597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805E674-7BD9-88E2-A7A2-F46AAC7CFC6E}"/>
              </a:ext>
            </a:extLst>
          </p:cNvPr>
          <p:cNvSpPr/>
          <p:nvPr/>
        </p:nvSpPr>
        <p:spPr>
          <a:xfrm>
            <a:off x="3642465" y="3549970"/>
            <a:ext cx="6597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62400A-127F-DDFA-7812-79CBCE1B313C}"/>
              </a:ext>
            </a:extLst>
          </p:cNvPr>
          <p:cNvSpPr/>
          <p:nvPr/>
        </p:nvSpPr>
        <p:spPr>
          <a:xfrm>
            <a:off x="3576495" y="3653838"/>
            <a:ext cx="6597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5E61350-6941-6935-9892-EB6908798592}"/>
              </a:ext>
            </a:extLst>
          </p:cNvPr>
          <p:cNvSpPr/>
          <p:nvPr/>
        </p:nvSpPr>
        <p:spPr>
          <a:xfrm>
            <a:off x="3589230" y="3747212"/>
            <a:ext cx="65970" cy="46263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E2485EA-08F6-8949-3124-971836C9779B}"/>
              </a:ext>
            </a:extLst>
          </p:cNvPr>
          <p:cNvSpPr/>
          <p:nvPr/>
        </p:nvSpPr>
        <p:spPr>
          <a:xfrm>
            <a:off x="3528270" y="3824313"/>
            <a:ext cx="93840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FA49C26-B1DD-F8F0-9464-589C23310137}"/>
              </a:ext>
            </a:extLst>
          </p:cNvPr>
          <p:cNvSpPr/>
          <p:nvPr/>
        </p:nvSpPr>
        <p:spPr>
          <a:xfrm>
            <a:off x="2959380" y="4568875"/>
            <a:ext cx="134340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BCC032-35D2-DB6D-D346-7DD2660916BC}"/>
              </a:ext>
            </a:extLst>
          </p:cNvPr>
          <p:cNvSpPr/>
          <p:nvPr/>
        </p:nvSpPr>
        <p:spPr>
          <a:xfrm>
            <a:off x="3042000" y="4472225"/>
            <a:ext cx="166230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FFF14C-3A8D-5C32-3700-7825D08AD86D}"/>
              </a:ext>
            </a:extLst>
          </p:cNvPr>
          <p:cNvSpPr/>
          <p:nvPr/>
        </p:nvSpPr>
        <p:spPr>
          <a:xfrm>
            <a:off x="3193905" y="4306994"/>
            <a:ext cx="75285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A17DD64-F7A6-35AA-55E1-97A2AF604BC4}"/>
              </a:ext>
            </a:extLst>
          </p:cNvPr>
          <p:cNvSpPr/>
          <p:nvPr/>
        </p:nvSpPr>
        <p:spPr>
          <a:xfrm>
            <a:off x="3132945" y="4389609"/>
            <a:ext cx="136245" cy="45719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8120CE5-409F-F55C-C4F8-CA3A9886F039}"/>
              </a:ext>
            </a:extLst>
          </p:cNvPr>
          <p:cNvSpPr/>
          <p:nvPr/>
        </p:nvSpPr>
        <p:spPr>
          <a:xfrm>
            <a:off x="7277240" y="4396663"/>
            <a:ext cx="279400" cy="7556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9CA49C-85CC-A0A6-4C63-7E7BA81C2F29}"/>
              </a:ext>
            </a:extLst>
          </p:cNvPr>
          <p:cNvSpPr txBox="1"/>
          <p:nvPr/>
        </p:nvSpPr>
        <p:spPr>
          <a:xfrm>
            <a:off x="7581422" y="4289451"/>
            <a:ext cx="55335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To-do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 Shaheen, A., Azam, F., &amp; Irshad, K. (2021, October). Anonymous Feedback: A real-time feedback to capture students’ engagement in learning process. In </a:t>
            </a:r>
            <a:r>
              <a:rPr lang="en-US" i="1" dirty="0"/>
              <a:t>International Conference on Medical Education (ICME 2021)</a:t>
            </a:r>
            <a:r>
              <a:rPr lang="en-US" dirty="0"/>
              <a:t> (pp. 65-68). Atlantis Press.</a:t>
            </a:r>
          </a:p>
          <a:p>
            <a:endParaRPr lang="en-US" dirty="0"/>
          </a:p>
          <a:p>
            <a:r>
              <a:rPr lang="en-US" dirty="0"/>
              <a:t> Frampton, A., Fox, F., Hollowood, A., </a:t>
            </a:r>
            <a:r>
              <a:rPr lang="en-US" dirty="0" err="1"/>
              <a:t>Northstone</a:t>
            </a:r>
            <a:r>
              <a:rPr lang="en-US" dirty="0"/>
              <a:t>, K., </a:t>
            </a:r>
            <a:r>
              <a:rPr lang="en-US" dirty="0" err="1"/>
              <a:t>Margelyte</a:t>
            </a:r>
            <a:r>
              <a:rPr lang="en-US" dirty="0"/>
              <a:t>, R., Smith-Clarke, S., &amp; Redwood, S. (2017). Using real-time, anonymous staff feedback to improve staff experience and engagement. </a:t>
            </a:r>
            <a:r>
              <a:rPr lang="en-US" i="1" dirty="0"/>
              <a:t>BMJ Quality Improvement Reports</a:t>
            </a:r>
            <a:r>
              <a:rPr lang="en-US" dirty="0"/>
              <a:t>, </a:t>
            </a:r>
            <a:r>
              <a:rPr lang="en-US" i="1" dirty="0"/>
              <a:t>6</a:t>
            </a:r>
            <a:r>
              <a:rPr lang="en-US" dirty="0"/>
              <a:t>(1).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684CC7B-4953-84A9-BE42-BEAE8DDA40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51BC1-8784-F7DA-0769-75B2D841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2119347"/>
            <a:ext cx="8520600" cy="904805"/>
          </a:xfrm>
        </p:spPr>
        <p:txBody>
          <a:bodyPr>
            <a:normAutofit fontScale="90000"/>
          </a:bodyPr>
          <a:lstStyle/>
          <a:p>
            <a:pPr algn="ctr"/>
            <a:r>
              <a:rPr lang="en-US" sz="4800" dirty="0"/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15A09E-00A0-588C-72E1-6672A7D67B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481400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433</Words>
  <Application>Microsoft Office PowerPoint</Application>
  <PresentationFormat>On-screen Show (16:9)</PresentationFormat>
  <Paragraphs>91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Times New Roman</vt:lpstr>
      <vt:lpstr>Simple Light</vt:lpstr>
      <vt:lpstr>Anonymous Feedback wall </vt:lpstr>
      <vt:lpstr>Outline</vt:lpstr>
      <vt:lpstr>Introduction</vt:lpstr>
      <vt:lpstr>Statement of Problem</vt:lpstr>
      <vt:lpstr>Objectives of the Project</vt:lpstr>
      <vt:lpstr>Scope of the Project</vt:lpstr>
      <vt:lpstr>Proposed System Overview</vt:lpstr>
      <vt:lpstr>System Design</vt:lpstr>
      <vt:lpstr>ER DIAGRAM</vt:lpstr>
      <vt:lpstr>Proposed Methodology</vt:lpstr>
      <vt:lpstr>Tools and Technologies</vt:lpstr>
      <vt:lpstr>Expected Outcomes</vt:lpstr>
      <vt:lpstr>Project Timeline (Gantt Chart)</vt:lpstr>
      <vt:lpstr>References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Lumi N</dc:creator>
  <cp:lastModifiedBy>Lumi N</cp:lastModifiedBy>
  <cp:revision>11</cp:revision>
  <dcterms:modified xsi:type="dcterms:W3CDTF">2025-11-30T06:26:01Z</dcterms:modified>
</cp:coreProperties>
</file>