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10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  <p:sldId id="271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976">
          <p15:clr>
            <a:srgbClr val="747775"/>
          </p15:clr>
        </p15:guide>
        <p15:guide id="4" orient="horz" pos="17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8D4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>
        <p:scale>
          <a:sx n="100" d="100"/>
          <a:sy n="100" d="100"/>
        </p:scale>
        <p:origin x="785" y="-38"/>
      </p:cViewPr>
      <p:guideLst>
        <p:guide orient="horz" pos="1620"/>
        <p:guide pos="2880"/>
        <p:guide pos="2976"/>
        <p:guide orient="horz" pos="17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30:07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9269 24575,'572'0'0,"-474"8"0,-5 0 0,-56-7 0,5 0 0,69-6 0,-108 5 0,-1-1 0,1 1 0,-1-1 0,1 1 0,0-1 0,-1 0 0,1 0 0,-1 0 0,0 0 0,1-1 0,-1 1 0,0 0 0,0-1 0,4-3 0,-3 0 0,0 1 0,0-1 0,0 0 0,0-1 0,2-8 0,2-5 0,7-36 0,1-3 0,-11 40 0,1 0 0,2-29 0,-5 28 0,1 0 0,7-23 0,-5 22 0,0 0 0,-2 0 0,3-35 0,-6-64 0,-1 75 0,7-76 0,3 17 0,-7-159 0,-3 134 0,1 102 0,-1 9 0,1-1 0,1 0 0,0 0 0,1 1 0,7-25 0,-3 21 0,-1-1 0,-1 0 0,2-42 0,-6-69 0,-2 56 0,1 41 0,0 17 0,1 0 0,1 0 0,0 0 0,1-1 0,8-28 0,-4 25 0,-2 0 0,0 0 0,-2 0 0,0-40 0,1-13 0,0 49 0,2 0 0,9-27 0,-7 30 0,-2-1 0,5-41 0,-9 10 0,-1 40 0,0 0 0,0 0 0,2 0 0,0 1 0,7-25 0,-4 19 0,-1 1 0,0-1 0,-2 0 0,1-22 0,0-8 0,11-26 0,-9 52 0,4-39 0,-7 2 0,-2 38 0,1 0 0,1 0 0,6-34 0,-1 22 0,-1-1 0,0-68 0,-4 65 0,5-37-444,0-12-115,-5 62 828,0-1 0,10-35 0,-3 17-73,-3-16-196,-5 44 0,1-1 0,1 1 0,5-19 0,-3 16 0,5-38 0,-8 39 0,1 1 0,8-28 0,-4 23 0,-2-1 0,-1 0 0,2-44 0,0-1 0,-1-14 0,-4 59 0,0 0 0,10-49 0,-3 44 0,15-40 0,-19 55 0,0 1 0,0 0 0,-1-1 0,-1 0 0,0 0 0,-1-21 0,1-13 0,0 35 0,1 0 0,5-17 0,-3 16 0,3-25 0,12-176 0,-6 140 0,-9 51 0,5-40 0,-7 36 0,10-37 0,-7 38 0,3-41 0,-5 38 0,1 0 0,10-37 0,-7 40 0,-2 0 0,-1-1 0,1-30 0,-4 27 0,2-1 0,9-39 0,-4 8 0,-7 43 0,1 0 0,8-28 0,7-32 0,-5 16 0,-6 30 0,-1 0 0,1-42 0,1-8 0,-3 8 0,-5 59 0,0 0 0,2 0 0,0 0 0,8-31 0,-5 29 0,0 0 0,2-23 0,-5 21 0,11-35 0,-7 33 0,-2 1 0,4-42 0,-5 36 0,7-34 0,-1 15 0,3-51 0,0-6 0,14 0 0,-2-5 0,-12 56 0,2 4 0,-9 35 0,-1-1 0,0 0 0,2-26 0,10-149 0,-2 118 0,-8 49 0,5-45 0,-9 53 0,0 0 0,9-27 0,-6 25 0,4-28 0,14-70 0,-15 86 0,-1-1 0,-2 0 0,2-33 0,-7 44 0,0 4 0,0-1 0,2 1 0,0 0 0,6-24 0,-3 17 0,6-44 0,-7 36 0,0 11 0,1 0 0,0 1 0,12-26 0,-8 24 0,-2 0 0,6-27 0,5-61 0,-15 95 0,1 0 0,0 0 0,1 1 0,12-22 0,6-16 0,-19 40 0,1 1 0,0 0 0,1 0 0,0 1 0,0 0 0,1 0 0,0 0 0,1 1 0,0 0 0,0 0 0,1 1 0,-1 0 0,2 0 0,-1 1 0,1 0 0,0 1 0,0 0 0,20-6 0,138-35 0,-102 37 0,-49 7 0,1 0 0,33-9 0,-30 5 0,0 1 0,0 1 0,0 1 0,23-1 0,90 6 0,-54 0 0,-65-2 0,10 0 0,1 0 0,-1-2 0,49-9 0,-45 5 0,-1 1 0,51-3 0,57 8 0,3 0 0,-64-8-331,14 1-98,-83 6 429,20 1 0,0-1 0,-1-1 0,30-7 0,-18 2 82,0 1 1,55-2-1,77 9 323,-65 1-297,1076-2-108,-1173 0 0,0 0 0,0 0 0,0 1 0,0 0 0,10 2 0,-15-2 0,0 0 0,-1 0 0,1-1 0,0 1 0,0 1 0,0-1 0,-1 0 0,1 0 0,0 1 0,-1-1 0,0 1 0,1-1 0,-1 1 0,0 0 0,1-1 0,-1 1 0,0 0 0,-1 0 0,1 0 0,0 0 0,0 0 0,-1 0 0,1 2 0,1 8 0,-1 0 0,1 18 0,1 20 0,6 9 0,-2 0 0,0 75 0,-8 414-1365,1-525-5461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30:2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24575,'3'1'0,"-1"0"0,0 0 0,1 0 0,-1 0 0,0 1 0,0-1 0,0 1 0,0-1 0,0 1 0,0 0 0,2 3 0,10 7 0,-10-9 0,0 0 0,-1 1 0,1 0 0,-1-1 0,0 1 0,0 1 0,0-1 0,-1 0 0,4 9 0,-3-7 0,1 0 0,-1 0 0,1 0 0,7 8 0,-7-10 0,9 6 0,-8-12 0,-1-10 0,-1 0 0,1 0 0,0 1 0,1 0 0,1 0 0,0 0 0,0 1 0,1-1 0,9-10 0,24-19 0,-40 40 0,0 0 0,0 0 0,0 0 0,0 0 0,0 0 0,1 0 0,-1 0 0,0 0 0,0 0 0,0 0 0,0 0 0,0 0 0,0-1 0,0 1 0,0 0 0,0 0 0,0 0 0,1 0 0,-1 0 0,0 0 0,0 0 0,0-1 0,0 1 0,0 0 0,0 0 0,0 0 0,0 0 0,0 0 0,0 0 0,0 0 0,0-1 0,0 1 0,0 0 0,0 0 0,0 0 0,0 0 0,0 0 0,0 0 0,0-1 0,0 1 0,0 0 0,0 0 0,-1 0 0,1 0 0,0 0 0,0 0 0,0 0 0,0 0 0,0-1 0,0 1 0,0 0 0,0 0 0,0 0 0,-1 0 0,-8 1 0,-12 8 0,7 0 0,12-9 0,0 1 0,0 0 0,0 0 0,0 1 0,0-1 0,0 0 0,0 1 0,1-1 0,-1 1 0,1-1 0,-1 1 0,1 0 0,-1 0 0,1-1 0,0 1 0,0 0 0,0 0 0,0 1 0,0-1 0,0 0 0,0 0 0,0 5 0,1-5 0,0 1 0,0-1 0,-1 1 0,1 0 0,-1-1 0,1 1 0,-1-1 0,0 1 0,0-1 0,0 1 0,0-1 0,-1 0 0,1 0 0,-1 1 0,-3 3 0,3-5 0,0 0 0,0 1 0,0-1 0,0 0 0,0 0 0,-1 0 0,1-1 0,0 1 0,-1 0 0,1-1 0,0 1 0,-1-1 0,1 0 0,-1 0 0,1 0 0,-5-1 0,5 1 0,0 0 0,0-1 0,0 1 0,1-1 0,-1 0 0,0 1 0,1-1 0,-1 0 0,0 0 0,1 0 0,-1 0 0,1 0 0,-1-1 0,1 1 0,0 0 0,-2-2 0,-17-28 0,7 10 0,-6-7-1365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55:33.76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18.70801"/>
      <inkml:brushProperty name="anchorY" value="-1900.55176"/>
      <inkml:brushProperty name="scaleFactor" value="0.5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3:39:2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3:39:29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7:04:28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7:04:30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30a109af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30a109af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0a109af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0a109af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30a109af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30a109af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0a109af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30a109af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0a109af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0a109af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0a109af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0a109af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0a109af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30a109af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0a109af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30a109af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30a109af6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30a109af6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0a109af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0a109af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30a109af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30a109af6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0a109af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0a109af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Times New Roman"/>
              <a:buNone/>
              <a:defRPr sz="5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None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None/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Times New Roman"/>
              <a:buNone/>
              <a:defRPr sz="120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38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37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3" Type="http://schemas.openxmlformats.org/officeDocument/2006/relationships/customXml" Target="../ink/ink4.xml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1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customXml" Target="../ink/ink7.xml"/><Relationship Id="rId4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95725" y="768149"/>
            <a:ext cx="6593700" cy="13090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dirty="0"/>
              <a:t>Anonymous Feedback wall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9425" y="239550"/>
            <a:ext cx="1769000" cy="1785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1700" y="239550"/>
            <a:ext cx="39693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Times New Roman"/>
                <a:ea typeface="Times New Roman"/>
                <a:cs typeface="Times New Roman"/>
                <a:sym typeface="Times New Roman"/>
              </a:rPr>
              <a:t>Proposal</a:t>
            </a:r>
            <a:r>
              <a:rPr lang="en"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Defense on</a:t>
            </a:r>
            <a:endParaRPr sz="23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66225" y="3066325"/>
            <a:ext cx="3292200" cy="9078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</a:t>
            </a:r>
            <a:endParaRPr sz="235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latin typeface="Times New Roman"/>
                <a:ea typeface="Times New Roman"/>
                <a:cs typeface="Times New Roman"/>
                <a:sym typeface="Times New Roman"/>
              </a:rPr>
              <a:t>Mr. Bipin Maharjan</a:t>
            </a:r>
            <a:endParaRPr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11700" y="3066325"/>
            <a:ext cx="4414200" cy="15828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latin typeface="Times New Roman"/>
                <a:ea typeface="Times New Roman"/>
                <a:cs typeface="Times New Roman"/>
                <a:sym typeface="Times New Roman"/>
              </a:rPr>
              <a:t>Shulabh Shrestha</a:t>
            </a:r>
            <a:endParaRPr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Times New Roman"/>
                <a:ea typeface="Times New Roman"/>
                <a:cs typeface="Times New Roman"/>
                <a:sym typeface="Times New Roman"/>
              </a:rPr>
              <a:t>BCSIT</a:t>
            </a:r>
            <a:endParaRPr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latin typeface="Times New Roman"/>
                <a:ea typeface="Times New Roman"/>
                <a:cs typeface="Times New Roman"/>
                <a:sym typeface="Times New Roman"/>
              </a:rPr>
              <a:t>2024-2-08-0747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Times New Roman"/>
                <a:ea typeface="Times New Roman"/>
                <a:cs typeface="Times New Roman"/>
                <a:sym typeface="Times New Roman"/>
              </a:rPr>
              <a:t>Uniglobe College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366225" y="4301475"/>
            <a:ext cx="3180900" cy="5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r>
              <a:rPr lang="en" sz="21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30</a:t>
            </a:r>
            <a:r>
              <a:rPr lang="en" sz="2100" b="1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" sz="21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November 202</a:t>
            </a:r>
            <a:r>
              <a:rPr lang="e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FA1AE4-F032-9FD0-AA42-845956D0A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500558" y="210457"/>
            <a:ext cx="8520600" cy="942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Outline</a:t>
            </a:r>
            <a:endParaRPr sz="4400"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Introduction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Statement of Problem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Objectives of the Project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Scope of the Project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Proposed System Overview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System Design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Proposed Methodology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Tools and Technologies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Expected Outcomes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Project Timeline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827FD5-22D1-B7B6-3A44-74C8ACEC3E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Web-based platform for collecting anonymous feedback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Ensured privacy and security for users submitting opinions.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Enables organizations, schools and workplaces to gather honest input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Build using PHP, HTML, CSS and JavaScript for functionality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91256C-8B90-3EB4-22AB-72976CAFF6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 of Problem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People hesitate to give honest feedback due to fear of judgement or exposure.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Lack of secure, </a:t>
            </a:r>
            <a:r>
              <a:rPr lang="en-US"/>
              <a:t>anonymous platforms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Target </a:t>
            </a:r>
            <a:r>
              <a:rPr lang="en-US" dirty="0"/>
              <a:t>users: Students, employees and organizations seeking genuine  feedbacks.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799B0E-440F-F4C5-C8CE-2C49CDD2AE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 of the Project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To enable users to submit feedback anonymously(or non-anonymously) and securely.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To provide administrators with an organized system to view and manage collected feedback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5025F-AF3F-B67C-A5F2-40A2812765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the Project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What it includes:</a:t>
            </a:r>
          </a:p>
          <a:p>
            <a:r>
              <a:rPr lang="en-US" dirty="0"/>
              <a:t>Database storage for feedback entries</a:t>
            </a:r>
          </a:p>
          <a:p>
            <a:r>
              <a:rPr lang="en-US" dirty="0"/>
              <a:t>Creation of rooms for feedback submission and viewing</a:t>
            </a:r>
          </a:p>
          <a:p>
            <a:r>
              <a:rPr lang="en-US" dirty="0"/>
              <a:t>User authentication for administrators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Advanced analytics or reporting tools</a:t>
            </a:r>
          </a:p>
          <a:p>
            <a:r>
              <a:rPr lang="en-US" dirty="0"/>
              <a:t>Notification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168B6E-8A0D-6A7B-B368-DBFB336DD5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E9569F-F06B-4A0E-636D-11682AABE8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System Overview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A7BE73-6DDF-CF7A-4D51-E598F7F15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2"/>
          <a:stretch>
            <a:fillRect/>
          </a:stretch>
        </p:blipFill>
        <p:spPr bwMode="auto">
          <a:xfrm>
            <a:off x="66397" y="504197"/>
            <a:ext cx="2473602" cy="4639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C94B20-2B51-88CC-12FB-2C6315C5D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54"/>
          <a:stretch>
            <a:fillRect/>
          </a:stretch>
        </p:blipFill>
        <p:spPr bwMode="auto">
          <a:xfrm>
            <a:off x="2688983" y="1961233"/>
            <a:ext cx="2410912" cy="263334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0F91E0-324E-C97F-AEE1-1C2203C15592}"/>
                  </a:ext>
                </a:extLst>
              </p14:cNvPr>
              <p14:cNvContentPartPr/>
              <p14:nvPr/>
            </p14:nvContentPartPr>
            <p14:xfrm>
              <a:off x="1788889" y="1647280"/>
              <a:ext cx="2055240" cy="334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0F91E0-324E-C97F-AEE1-1C2203C155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2769" y="1641160"/>
                <a:ext cx="2067480" cy="33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8CB79C2-C064-DF2B-126B-132F30571D52}"/>
                  </a:ext>
                </a:extLst>
              </p14:cNvPr>
              <p14:cNvContentPartPr/>
              <p14:nvPr/>
            </p14:nvContentPartPr>
            <p14:xfrm>
              <a:off x="3808596" y="1946721"/>
              <a:ext cx="82080" cy="61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8CB79C2-C064-DF2B-126B-132F30571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02476" y="1940601"/>
                <a:ext cx="94320" cy="7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0" y="-4630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Design</a:t>
            </a:r>
            <a:endParaRPr dirty="0"/>
          </a:p>
        </p:txBody>
      </p:sp>
      <p:sp>
        <p:nvSpPr>
          <p:cNvPr id="4" name="Google Shape;100;p20">
            <a:extLst>
              <a:ext uri="{FF2B5EF4-FFF2-40B4-BE49-F238E27FC236}">
                <a16:creationId xmlns:a16="http://schemas.microsoft.com/office/drawing/2014/main" id="{FD564547-6271-AAE3-DBF7-8C8EB288CD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Use case diagram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B557F-03BA-4763-6E49-C1EB0A6C967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37494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94E3099-FB6A-0617-68BD-C3671F6952A2}"/>
                  </a:ext>
                </a:extLst>
              </p14:cNvPr>
              <p14:cNvContentPartPr/>
              <p14:nvPr/>
            </p14:nvContentPartPr>
            <p14:xfrm>
              <a:off x="1603331" y="408154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94E3099-FB6A-0617-68BD-C3671F6952A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94691" y="39915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BE0B530-4FE9-5051-E262-405FEDFAF3B8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752" y="513808"/>
            <a:ext cx="5820692" cy="46296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C1B38-BAD6-1674-EBCF-18A66E8F5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62909-65F9-DD69-E1F9-12555E01B1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D1E71-B19C-BA35-473B-91929E1C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380" y="-97710"/>
            <a:ext cx="8520600" cy="572700"/>
          </a:xfrm>
        </p:spPr>
        <p:txBody>
          <a:bodyPr>
            <a:normAutofit/>
          </a:bodyPr>
          <a:lstStyle/>
          <a:p>
            <a:r>
              <a:rPr lang="en-US" sz="1800" dirty="0"/>
              <a:t>ER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95E2CF-7DDE-54F9-CF1C-6102896FD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5" y="408868"/>
            <a:ext cx="6720453" cy="4611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558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Methodology</a:t>
            </a:r>
            <a:endParaRPr dirty="0"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Waterfall model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Outline of Development Stages 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D67D797-553D-F154-AAA7-364FBA9D4F25}"/>
                  </a:ext>
                </a:extLst>
              </p14:cNvPr>
              <p14:cNvContentPartPr/>
              <p14:nvPr/>
            </p14:nvContentPartPr>
            <p14:xfrm>
              <a:off x="-784154" y="20825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D67D797-553D-F154-AAA7-364FBA9D4F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790274" y="20764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00FC075-1246-224F-BD43-8ED273E01C47}"/>
                  </a:ext>
                </a:extLst>
              </p14:cNvPr>
              <p14:cNvContentPartPr/>
              <p14:nvPr/>
            </p14:nvContentPartPr>
            <p14:xfrm>
              <a:off x="-820440" y="208252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00FC075-1246-224F-BD43-8ED273E01C4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826560" y="20764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B5005-EAB5-D544-5D77-11E01A1EBA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1026" name="Picture 2" descr="SDLC - Waterfall Model">
            <a:extLst>
              <a:ext uri="{FF2B5EF4-FFF2-40B4-BE49-F238E27FC236}">
                <a16:creationId xmlns:a16="http://schemas.microsoft.com/office/drawing/2014/main" id="{669B6B55-0E96-84B3-A0D9-D3FAD21B6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884" y="1303795"/>
            <a:ext cx="4955987" cy="331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and Technologies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Programming Language: PHP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Database: MySQL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Front-end: HTML, CSS, JavaScript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Server: Apache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9E6A70-BBB6-D5FD-C599-42CDD574B48D}"/>
                  </a:ext>
                </a:extLst>
              </p14:cNvPr>
              <p14:cNvContentPartPr/>
              <p14:nvPr/>
            </p14:nvContentPartPr>
            <p14:xfrm>
              <a:off x="4397686" y="2684857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9E6A70-BBB6-D5FD-C599-42CDD574B4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1566" y="26787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F523B8-751E-FD90-EC70-6240DED73AFC}"/>
                  </a:ext>
                </a:extLst>
              </p14:cNvPr>
              <p14:cNvContentPartPr/>
              <p14:nvPr/>
            </p14:nvContentPartPr>
            <p14:xfrm>
              <a:off x="3707926" y="2786377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F523B8-751E-FD90-EC70-6240DED73A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1806" y="278025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68E53-C611-B2CF-D2D2-FA21A63331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Outcomes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Successful user and admin log in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Correct anonymity toggle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Successful Room Creation and View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Successful submission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Successfully viewing feedbacks that were submitted by the users sharing a common group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Successful administrative actions such as deleting feedbacks and users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56B6E-D669-FF18-009C-47BB927351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Timeline (Gantt Chart)</a:t>
            </a:r>
            <a:endParaRPr dirty="0"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Gantt chart diagram only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FEC96-6271-AF15-2B36-AE8F34EA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882133"/>
            <a:ext cx="6773220" cy="41630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4EBE98-DDD0-880B-B8A4-490B3BF5D2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53117C-339F-7698-08FC-F9568CF211B7}"/>
              </a:ext>
            </a:extLst>
          </p:cNvPr>
          <p:cNvSpPr/>
          <p:nvPr/>
        </p:nvSpPr>
        <p:spPr>
          <a:xfrm>
            <a:off x="6226629" y="2069592"/>
            <a:ext cx="26561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BBD77-BB75-3FB6-A679-D7C28AE446CA}"/>
              </a:ext>
            </a:extLst>
          </p:cNvPr>
          <p:cNvSpPr/>
          <p:nvPr/>
        </p:nvSpPr>
        <p:spPr>
          <a:xfrm>
            <a:off x="4132581" y="2895057"/>
            <a:ext cx="279400" cy="6150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6FEF6-9664-E526-4F05-A448214CC425}"/>
              </a:ext>
            </a:extLst>
          </p:cNvPr>
          <p:cNvSpPr/>
          <p:nvPr/>
        </p:nvSpPr>
        <p:spPr>
          <a:xfrm>
            <a:off x="6492239" y="1987250"/>
            <a:ext cx="183895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29A8C-6B23-8CD0-509E-0C8BF1D4C559}"/>
              </a:ext>
            </a:extLst>
          </p:cNvPr>
          <p:cNvSpPr/>
          <p:nvPr/>
        </p:nvSpPr>
        <p:spPr>
          <a:xfrm>
            <a:off x="3644970" y="3176997"/>
            <a:ext cx="20313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3BBCE6-0EDC-D117-BCA7-360BDBEAC7A8}"/>
              </a:ext>
            </a:extLst>
          </p:cNvPr>
          <p:cNvSpPr/>
          <p:nvPr/>
        </p:nvSpPr>
        <p:spPr>
          <a:xfrm>
            <a:off x="3418980" y="3918656"/>
            <a:ext cx="203130" cy="462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826660-97BD-C339-AEB7-963188CB42A7}"/>
              </a:ext>
            </a:extLst>
          </p:cNvPr>
          <p:cNvSpPr/>
          <p:nvPr/>
        </p:nvSpPr>
        <p:spPr>
          <a:xfrm>
            <a:off x="3644970" y="3090275"/>
            <a:ext cx="309810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CE2343-1D28-E4C7-EDA1-3ECD74761E3C}"/>
              </a:ext>
            </a:extLst>
          </p:cNvPr>
          <p:cNvSpPr/>
          <p:nvPr/>
        </p:nvSpPr>
        <p:spPr>
          <a:xfrm>
            <a:off x="3893820" y="2995933"/>
            <a:ext cx="309810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963750-7196-A210-3D36-03412901CA57}"/>
              </a:ext>
            </a:extLst>
          </p:cNvPr>
          <p:cNvSpPr/>
          <p:nvPr/>
        </p:nvSpPr>
        <p:spPr>
          <a:xfrm>
            <a:off x="3418980" y="3918655"/>
            <a:ext cx="20313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4700DC-37A4-9BFD-1585-24825CE9CCDD}"/>
              </a:ext>
            </a:extLst>
          </p:cNvPr>
          <p:cNvSpPr/>
          <p:nvPr/>
        </p:nvSpPr>
        <p:spPr>
          <a:xfrm>
            <a:off x="3317415" y="4015305"/>
            <a:ext cx="20313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F2DAE5-A6D3-ADBA-DCA0-166F870EC4E5}"/>
              </a:ext>
            </a:extLst>
          </p:cNvPr>
          <p:cNvSpPr/>
          <p:nvPr/>
        </p:nvSpPr>
        <p:spPr>
          <a:xfrm>
            <a:off x="3208230" y="4104334"/>
            <a:ext cx="20313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3FA237-8B5D-B712-977F-592632257348}"/>
              </a:ext>
            </a:extLst>
          </p:cNvPr>
          <p:cNvSpPr/>
          <p:nvPr/>
        </p:nvSpPr>
        <p:spPr>
          <a:xfrm>
            <a:off x="7269620" y="3880826"/>
            <a:ext cx="279400" cy="6150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70F3F4-64BB-0B81-716E-BCCE14F8AC7C}"/>
              </a:ext>
            </a:extLst>
          </p:cNvPr>
          <p:cNvSpPr txBox="1"/>
          <p:nvPr/>
        </p:nvSpPr>
        <p:spPr>
          <a:xfrm>
            <a:off x="7549020" y="3773152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complete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E128B5-FD23-9BFA-128F-A3C630B2B7E9}"/>
              </a:ext>
            </a:extLst>
          </p:cNvPr>
          <p:cNvSpPr/>
          <p:nvPr/>
        </p:nvSpPr>
        <p:spPr>
          <a:xfrm>
            <a:off x="7269620" y="4130480"/>
            <a:ext cx="279400" cy="6150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02C97-E7CE-10BC-BD41-4B9119ADC64C}"/>
              </a:ext>
            </a:extLst>
          </p:cNvPr>
          <p:cNvSpPr txBox="1"/>
          <p:nvPr/>
        </p:nvSpPr>
        <p:spPr>
          <a:xfrm>
            <a:off x="7592073" y="4030426"/>
            <a:ext cx="8883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In progress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332E1-1399-B611-3145-DB7A86BC3917}"/>
              </a:ext>
            </a:extLst>
          </p:cNvPr>
          <p:cNvSpPr/>
          <p:nvPr/>
        </p:nvSpPr>
        <p:spPr>
          <a:xfrm>
            <a:off x="3644970" y="3270744"/>
            <a:ext cx="6597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3003E0-D698-7BD2-4467-D9F9BC918353}"/>
              </a:ext>
            </a:extLst>
          </p:cNvPr>
          <p:cNvSpPr/>
          <p:nvPr/>
        </p:nvSpPr>
        <p:spPr>
          <a:xfrm>
            <a:off x="3644970" y="3381121"/>
            <a:ext cx="6597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0505EA-53FF-EC86-F2D5-E5AADC04147A}"/>
              </a:ext>
            </a:extLst>
          </p:cNvPr>
          <p:cNvSpPr/>
          <p:nvPr/>
        </p:nvSpPr>
        <p:spPr>
          <a:xfrm>
            <a:off x="3634845" y="3468366"/>
            <a:ext cx="6597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05E674-7BD9-88E2-A7A2-F46AAC7CFC6E}"/>
              </a:ext>
            </a:extLst>
          </p:cNvPr>
          <p:cNvSpPr/>
          <p:nvPr/>
        </p:nvSpPr>
        <p:spPr>
          <a:xfrm>
            <a:off x="3642465" y="3549970"/>
            <a:ext cx="6597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62400A-127F-DDFA-7812-79CBCE1B313C}"/>
              </a:ext>
            </a:extLst>
          </p:cNvPr>
          <p:cNvSpPr/>
          <p:nvPr/>
        </p:nvSpPr>
        <p:spPr>
          <a:xfrm>
            <a:off x="3576495" y="3653838"/>
            <a:ext cx="6597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E61350-6941-6935-9892-EB6908798592}"/>
              </a:ext>
            </a:extLst>
          </p:cNvPr>
          <p:cNvSpPr/>
          <p:nvPr/>
        </p:nvSpPr>
        <p:spPr>
          <a:xfrm>
            <a:off x="3589230" y="3747212"/>
            <a:ext cx="65970" cy="462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2485EA-08F6-8949-3124-971836C9779B}"/>
              </a:ext>
            </a:extLst>
          </p:cNvPr>
          <p:cNvSpPr/>
          <p:nvPr/>
        </p:nvSpPr>
        <p:spPr>
          <a:xfrm>
            <a:off x="3528270" y="3824313"/>
            <a:ext cx="93840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A49C26-B1DD-F8F0-9464-589C23310137}"/>
              </a:ext>
            </a:extLst>
          </p:cNvPr>
          <p:cNvSpPr/>
          <p:nvPr/>
        </p:nvSpPr>
        <p:spPr>
          <a:xfrm>
            <a:off x="2959380" y="4568875"/>
            <a:ext cx="134340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BCC032-35D2-DB6D-D346-7DD2660916BC}"/>
              </a:ext>
            </a:extLst>
          </p:cNvPr>
          <p:cNvSpPr/>
          <p:nvPr/>
        </p:nvSpPr>
        <p:spPr>
          <a:xfrm>
            <a:off x="3042000" y="4472225"/>
            <a:ext cx="166230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FFF14C-3A8D-5C32-3700-7825D08AD86D}"/>
              </a:ext>
            </a:extLst>
          </p:cNvPr>
          <p:cNvSpPr/>
          <p:nvPr/>
        </p:nvSpPr>
        <p:spPr>
          <a:xfrm>
            <a:off x="3193905" y="4306994"/>
            <a:ext cx="75285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DD64-F7A6-35AA-55E1-97A2AF604BC4}"/>
              </a:ext>
            </a:extLst>
          </p:cNvPr>
          <p:cNvSpPr/>
          <p:nvPr/>
        </p:nvSpPr>
        <p:spPr>
          <a:xfrm>
            <a:off x="3132945" y="4389609"/>
            <a:ext cx="136245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120CE5-409F-F55C-C4F8-CA3A9886F039}"/>
              </a:ext>
            </a:extLst>
          </p:cNvPr>
          <p:cNvSpPr/>
          <p:nvPr/>
        </p:nvSpPr>
        <p:spPr>
          <a:xfrm>
            <a:off x="7277240" y="4396663"/>
            <a:ext cx="279400" cy="755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9CA49C-85CC-A0A6-4C63-7E7BA81C2F29}"/>
              </a:ext>
            </a:extLst>
          </p:cNvPr>
          <p:cNvSpPr txBox="1"/>
          <p:nvPr/>
        </p:nvSpPr>
        <p:spPr>
          <a:xfrm>
            <a:off x="7581422" y="4289451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To-do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C6E137-57F1-8264-B8A8-940A8A016872}"/>
              </a:ext>
            </a:extLst>
          </p:cNvPr>
          <p:cNvSpPr/>
          <p:nvPr/>
        </p:nvSpPr>
        <p:spPr>
          <a:xfrm>
            <a:off x="4386581" y="2814956"/>
            <a:ext cx="330562" cy="457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0120F-2B95-1D12-A53D-92B341AE69AC}"/>
              </a:ext>
            </a:extLst>
          </p:cNvPr>
          <p:cNvSpPr/>
          <p:nvPr/>
        </p:nvSpPr>
        <p:spPr>
          <a:xfrm>
            <a:off x="4640720" y="2719071"/>
            <a:ext cx="279400" cy="6150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C3B5CE-571B-2556-43A4-A70D731853F5}"/>
              </a:ext>
            </a:extLst>
          </p:cNvPr>
          <p:cNvSpPr/>
          <p:nvPr/>
        </p:nvSpPr>
        <p:spPr>
          <a:xfrm>
            <a:off x="4833256" y="2635796"/>
            <a:ext cx="375557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A0DDB6-4004-91B0-2475-26E021EFC26F}"/>
              </a:ext>
            </a:extLst>
          </p:cNvPr>
          <p:cNvSpPr/>
          <p:nvPr/>
        </p:nvSpPr>
        <p:spPr>
          <a:xfrm>
            <a:off x="5143377" y="2533292"/>
            <a:ext cx="375557" cy="631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 Shaheen, A., Azam, F., &amp; Irshad, K. (2021, October). Anonymous Feedback: A real-time feedback to capture students’ engagement in learning process. In </a:t>
            </a:r>
            <a:r>
              <a:rPr lang="en-US" i="1" dirty="0"/>
              <a:t>International Conference on Medical Education (ICME 2021)</a:t>
            </a:r>
            <a:r>
              <a:rPr lang="en-US" dirty="0"/>
              <a:t> (pp. 65-68). Atlantis Press.</a:t>
            </a:r>
          </a:p>
          <a:p>
            <a:endParaRPr lang="en-US" dirty="0"/>
          </a:p>
          <a:p>
            <a:r>
              <a:rPr lang="en-US" dirty="0"/>
              <a:t> Frampton, A., Fox, F., Hollowood, A., </a:t>
            </a:r>
            <a:r>
              <a:rPr lang="en-US" dirty="0" err="1"/>
              <a:t>Northstone</a:t>
            </a:r>
            <a:r>
              <a:rPr lang="en-US" dirty="0"/>
              <a:t>, K., </a:t>
            </a:r>
            <a:r>
              <a:rPr lang="en-US" dirty="0" err="1"/>
              <a:t>Margelyte</a:t>
            </a:r>
            <a:r>
              <a:rPr lang="en-US" dirty="0"/>
              <a:t>, R., Smith-Clarke, S., &amp; Redwood, S. (2017). Using real-time, anonymous staff feedback to improve staff experience and engagement. </a:t>
            </a:r>
            <a:r>
              <a:rPr lang="en-US" i="1" dirty="0"/>
              <a:t>BMJ Quality Improvement Reports</a:t>
            </a:r>
            <a:r>
              <a:rPr lang="en-US" dirty="0"/>
              <a:t>, </a:t>
            </a:r>
            <a:r>
              <a:rPr lang="en-US" i="1" dirty="0"/>
              <a:t>6</a:t>
            </a:r>
            <a:r>
              <a:rPr lang="en-US" dirty="0"/>
              <a:t>(1).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84CC7B-4953-84A9-BE42-BEAE8DDA40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1BC1-8784-F7DA-0769-75B2D841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19347"/>
            <a:ext cx="8520600" cy="9048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5A09E-00A0-588C-72E1-6672A7D67B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481400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409</Words>
  <Application>Microsoft Office PowerPoint</Application>
  <PresentationFormat>On-screen Show (16:9)</PresentationFormat>
  <Paragraphs>87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Simple Light</vt:lpstr>
      <vt:lpstr>Anonymous Feedback wall </vt:lpstr>
      <vt:lpstr>Outline</vt:lpstr>
      <vt:lpstr>Introduction</vt:lpstr>
      <vt:lpstr>Statement of Problem</vt:lpstr>
      <vt:lpstr>Objectives of the Project</vt:lpstr>
      <vt:lpstr>Scope of the Project</vt:lpstr>
      <vt:lpstr>Proposed System Overview</vt:lpstr>
      <vt:lpstr>System Design</vt:lpstr>
      <vt:lpstr>ER DIAGRAM</vt:lpstr>
      <vt:lpstr>Proposed Methodology</vt:lpstr>
      <vt:lpstr>Tools and Technologies</vt:lpstr>
      <vt:lpstr>Expected Outcomes</vt:lpstr>
      <vt:lpstr>Project Timeline (Gantt Chart)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Lumi N</dc:creator>
  <cp:lastModifiedBy>Lumi 26710</cp:lastModifiedBy>
  <cp:revision>13</cp:revision>
  <dcterms:modified xsi:type="dcterms:W3CDTF">2026-01-06T16:40:17Z</dcterms:modified>
</cp:coreProperties>
</file>