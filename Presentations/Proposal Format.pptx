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9" r:id="rId10"/>
    <p:sldId id="270" r:id="rId11"/>
    <p:sldId id="264" r:id="rId12"/>
    <p:sldId id="265" r:id="rId13"/>
    <p:sldId id="266" r:id="rId14"/>
    <p:sldId id="267" r:id="rId15"/>
    <p:sldId id="268" r:id="rId16"/>
    <p:sldId id="271" r:id="rId17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  <p15:guide id="3" pos="2976">
          <p15:clr>
            <a:srgbClr val="747775"/>
          </p15:clr>
        </p15:guide>
        <p15:guide id="4" orient="horz" pos="1716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428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581" y="62"/>
      </p:cViewPr>
      <p:guideLst>
        <p:guide orient="horz" pos="1620"/>
        <p:guide pos="2880"/>
        <p:guide pos="2976"/>
        <p:guide orient="horz" pos="171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a30a109af6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3a30a109af6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g3a30a109af6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" name="Google Shape;68;g3a30a109af6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a30a109af6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a30a109af6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3a30a109af6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" name="Google Shape;80;g3a30a109af6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a30a109af6_0_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" name="Google Shape;86;g3a30a109af6_0_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a30a109af6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3a30a109af6_0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a30a109af6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a30a109af6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a30a109af6_0_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3a30a109af6_0_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a30a109af6_0_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" name="Google Shape;110;g3a30a109af6_0_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a30a109af6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a30a109af6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a30a109af6_0_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a30a109af6_0_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a30a109af6_0_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a30a109af6_0_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Font typeface="Times New Roman"/>
              <a:buNone/>
              <a:defRPr sz="5200"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Times New Roman"/>
              <a:buNone/>
              <a:defRPr sz="2800"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Font typeface="Times New Roman"/>
              <a:buNone/>
              <a:defRPr sz="3600"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Font typeface="Times New Roman"/>
              <a:buNone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○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■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●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○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■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●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○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■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Font typeface="Times New Roman"/>
              <a:buNone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Font typeface="Times New Roman"/>
              <a:buNone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Font typeface="Times New Roman"/>
              <a:buNone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Font typeface="Times New Roman"/>
              <a:buNone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Font typeface="Times New Roman"/>
              <a:buNone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Font typeface="Times New Roman"/>
              <a:buNone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Font typeface="Times New Roman"/>
              <a:buNone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Font typeface="Times New Roman"/>
              <a:buNone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Font typeface="Times New Roman"/>
              <a:buNone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●"/>
              <a:defRPr sz="1400"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○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■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●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○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■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●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○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■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●"/>
              <a:defRPr sz="1400"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○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■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●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○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■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●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○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■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Font typeface="Times New Roman"/>
              <a:buNone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Font typeface="Times New Roman"/>
              <a:buNone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Font typeface="Times New Roman"/>
              <a:buNone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Font typeface="Times New Roman"/>
              <a:buNone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Font typeface="Times New Roman"/>
              <a:buNone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Font typeface="Times New Roman"/>
              <a:buNone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Font typeface="Times New Roman"/>
              <a:buNone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Font typeface="Times New Roman"/>
              <a:buNone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Font typeface="Times New Roman"/>
              <a:buNone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Font typeface="Times New Roman"/>
              <a:buNone/>
              <a:defRPr sz="2400"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Font typeface="Times New Roman"/>
              <a:buNone/>
              <a:defRPr sz="2400"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Font typeface="Times New Roman"/>
              <a:buNone/>
              <a:defRPr sz="2400"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Font typeface="Times New Roman"/>
              <a:buNone/>
              <a:defRPr sz="2400"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Font typeface="Times New Roman"/>
              <a:buNone/>
              <a:defRPr sz="2400"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Font typeface="Times New Roman"/>
              <a:buNone/>
              <a:defRPr sz="2400"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Font typeface="Times New Roman"/>
              <a:buNone/>
              <a:defRPr sz="2400"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Font typeface="Times New Roman"/>
              <a:buNone/>
              <a:defRPr sz="2400"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Font typeface="Times New Roman"/>
              <a:buNone/>
              <a:defRPr sz="2400"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●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○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■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●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○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■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●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○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Font typeface="Times New Roman"/>
              <a:buChar char="■"/>
              <a:defRPr sz="1200"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Font typeface="Times New Roman"/>
              <a:buNone/>
              <a:defRPr sz="4800"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Font typeface="Times New Roman"/>
              <a:buNone/>
              <a:defRPr sz="4800"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Font typeface="Times New Roman"/>
              <a:buNone/>
              <a:defRPr sz="4800"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Font typeface="Times New Roman"/>
              <a:buNone/>
              <a:defRPr sz="4800"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Font typeface="Times New Roman"/>
              <a:buNone/>
              <a:defRPr sz="4800"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Font typeface="Times New Roman"/>
              <a:buNone/>
              <a:defRPr sz="4800"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Font typeface="Times New Roman"/>
              <a:buNone/>
              <a:defRPr sz="4800"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Font typeface="Times New Roman"/>
              <a:buNone/>
              <a:defRPr sz="4800"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Font typeface="Times New Roman"/>
              <a:buNone/>
              <a:defRPr sz="4800"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Font typeface="Times New Roman"/>
              <a:buNone/>
              <a:defRPr sz="4200"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Font typeface="Times New Roman"/>
              <a:buNone/>
              <a:defRPr sz="4200"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Font typeface="Times New Roman"/>
              <a:buNone/>
              <a:defRPr sz="4200"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Font typeface="Times New Roman"/>
              <a:buNone/>
              <a:defRPr sz="4200"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Font typeface="Times New Roman"/>
              <a:buNone/>
              <a:defRPr sz="4200"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Font typeface="Times New Roman"/>
              <a:buNone/>
              <a:defRPr sz="4200"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Font typeface="Times New Roman"/>
              <a:buNone/>
              <a:defRPr sz="4200"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Font typeface="Times New Roman"/>
              <a:buNone/>
              <a:defRPr sz="4200"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Font typeface="Times New Roman"/>
              <a:buNone/>
              <a:defRPr sz="4200"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Times New Roman"/>
              <a:buNone/>
              <a:defRPr sz="2100"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Times New Roman"/>
              <a:buNone/>
              <a:defRPr sz="2100"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Times New Roman"/>
              <a:buNone/>
              <a:defRPr sz="2100"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Times New Roman"/>
              <a:buNone/>
              <a:defRPr sz="2100"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Times New Roman"/>
              <a:buNone/>
              <a:defRPr sz="2100"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Times New Roman"/>
              <a:buNone/>
              <a:defRPr sz="2100"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Times New Roman"/>
              <a:buNone/>
              <a:defRPr sz="2100"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Times New Roman"/>
              <a:buNone/>
              <a:defRPr sz="2100"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Times New Roman"/>
              <a:buNone/>
              <a:defRPr sz="2100"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○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■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●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○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■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●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○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■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None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Font typeface="Times New Roman"/>
              <a:buNone/>
              <a:defRPr sz="12000"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Font typeface="Times New Roman"/>
              <a:buNone/>
              <a:defRPr sz="12000"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Font typeface="Times New Roman"/>
              <a:buNone/>
              <a:defRPr sz="12000"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Font typeface="Times New Roman"/>
              <a:buNone/>
              <a:defRPr sz="12000"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Font typeface="Times New Roman"/>
              <a:buNone/>
              <a:defRPr sz="12000"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Font typeface="Times New Roman"/>
              <a:buNone/>
              <a:defRPr sz="12000"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Font typeface="Times New Roman"/>
              <a:buNone/>
              <a:defRPr sz="12000"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Font typeface="Times New Roman"/>
              <a:buNone/>
              <a:defRPr sz="12000"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Font typeface="Times New Roman"/>
              <a:buNone/>
              <a:defRPr sz="12000"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●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○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■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●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○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■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●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○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Font typeface="Times New Roman"/>
              <a:buChar char="■"/>
              <a:defRPr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295725" y="768149"/>
            <a:ext cx="6593700" cy="1309025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AnonAeon:</a:t>
            </a:r>
            <a:br>
              <a:rPr lang="en" dirty="0"/>
            </a:br>
            <a:r>
              <a:rPr lang="en" sz="4900" dirty="0"/>
              <a:t>Anonymous Feedback wall </a:t>
            </a:r>
            <a:endParaRPr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55" name="Google Shape;55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889425" y="239550"/>
            <a:ext cx="1769000" cy="1785700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/>
        </p:nvSpPr>
        <p:spPr>
          <a:xfrm>
            <a:off x="311700" y="239550"/>
            <a:ext cx="3969300" cy="5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 b="1">
                <a:latin typeface="Times New Roman"/>
                <a:ea typeface="Times New Roman"/>
                <a:cs typeface="Times New Roman"/>
                <a:sym typeface="Times New Roman"/>
              </a:rPr>
              <a:t>Proposal</a:t>
            </a:r>
            <a:r>
              <a:rPr lang="en" sz="23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Defense on</a:t>
            </a:r>
            <a:endParaRPr sz="2300" b="1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7" name="Google Shape;57;p13"/>
          <p:cNvSpPr txBox="1"/>
          <p:nvPr/>
        </p:nvSpPr>
        <p:spPr>
          <a:xfrm>
            <a:off x="5366225" y="3066325"/>
            <a:ext cx="3292200" cy="9078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350" b="1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Supervised by:</a:t>
            </a:r>
            <a:endParaRPr sz="2350" b="1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 dirty="0">
                <a:latin typeface="Times New Roman"/>
                <a:ea typeface="Times New Roman"/>
                <a:cs typeface="Times New Roman"/>
                <a:sym typeface="Times New Roman"/>
              </a:rPr>
              <a:t>Mr. Bipin Maharjan</a:t>
            </a:r>
            <a:endParaRPr sz="2100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8" name="Google Shape;58;p13"/>
          <p:cNvSpPr txBox="1"/>
          <p:nvPr/>
        </p:nvSpPr>
        <p:spPr>
          <a:xfrm>
            <a:off x="311700" y="3066325"/>
            <a:ext cx="4414200" cy="15828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b="1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Presented by:</a:t>
            </a:r>
            <a:endParaRPr sz="2800" b="1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 dirty="0">
                <a:latin typeface="Times New Roman"/>
                <a:ea typeface="Times New Roman"/>
                <a:cs typeface="Times New Roman"/>
                <a:sym typeface="Times New Roman"/>
              </a:rPr>
              <a:t>Shulabh Shrestha</a:t>
            </a:r>
            <a:endParaRPr sz="2500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dirty="0">
                <a:latin typeface="Times New Roman"/>
                <a:ea typeface="Times New Roman"/>
                <a:cs typeface="Times New Roman"/>
                <a:sym typeface="Times New Roman"/>
              </a:rPr>
              <a:t>BCSIT</a:t>
            </a:r>
            <a:endParaRPr sz="2500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 dirty="0">
                <a:latin typeface="Times New Roman"/>
                <a:ea typeface="Times New Roman"/>
                <a:cs typeface="Times New Roman"/>
                <a:sym typeface="Times New Roman"/>
              </a:rPr>
              <a:t>2024-2-08-0747</a:t>
            </a:r>
            <a:endParaRPr sz="25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dirty="0">
                <a:latin typeface="Times New Roman"/>
                <a:ea typeface="Times New Roman"/>
                <a:cs typeface="Times New Roman"/>
                <a:sym typeface="Times New Roman"/>
              </a:rPr>
              <a:t>Uniglobe College</a:t>
            </a:r>
            <a:endParaRPr sz="2500"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9" name="Google Shape;59;p13"/>
          <p:cNvSpPr txBox="1"/>
          <p:nvPr/>
        </p:nvSpPr>
        <p:spPr>
          <a:xfrm>
            <a:off x="5366225" y="4301475"/>
            <a:ext cx="3180900" cy="528600"/>
          </a:xfrm>
          <a:prstGeom prst="rect">
            <a:avLst/>
          </a:prstGeom>
          <a:noFill/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 b="1" dirty="0">
                <a:latin typeface="Times New Roman"/>
                <a:ea typeface="Times New Roman"/>
                <a:cs typeface="Times New Roman"/>
                <a:sym typeface="Times New Roman"/>
              </a:rPr>
              <a:t>Date</a:t>
            </a:r>
            <a:r>
              <a:rPr lang="en" sz="2100" b="1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30</a:t>
            </a:r>
            <a:r>
              <a:rPr lang="en" sz="2100" b="1" baseline="30000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</a:t>
            </a:r>
            <a:r>
              <a:rPr lang="en" sz="2100" b="1" dirty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November 202</a:t>
            </a:r>
            <a:r>
              <a:rPr lang="en" sz="2100" b="1" dirty="0">
                <a:latin typeface="Times New Roman"/>
                <a:ea typeface="Times New Roman"/>
                <a:cs typeface="Times New Roman"/>
                <a:sym typeface="Times New Roman"/>
              </a:rPr>
              <a:t>5</a:t>
            </a:r>
            <a:endParaRPr sz="2100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Contents</a:t>
            </a:r>
            <a:endParaRPr/>
          </a:p>
        </p:txBody>
      </p:sp>
      <p:sp>
        <p:nvSpPr>
          <p:cNvPr id="65" name="Google Shape;65;p1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Introduction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Statement of Problem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Objectives of the Project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Scope of the Project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Proposed System Overview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System Design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Proposed Methodology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Tools and Technologies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Expected Outcomes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Project Timeline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References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Introduction</a:t>
            </a:r>
            <a:endParaRPr/>
          </a:p>
        </p:txBody>
      </p:sp>
      <p:sp>
        <p:nvSpPr>
          <p:cNvPr id="71" name="Google Shape;71;p1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Web-based platform for collecting anonymous feedback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Ensured privacy and security for users submitting opinions.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Enables organizations, schools and workplaces to gather honest input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Build using PHP, HTML, CSS and JavaScript for functionality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Statement of Problem</a:t>
            </a:r>
            <a:endParaRPr/>
          </a:p>
        </p:txBody>
      </p:sp>
      <p:sp>
        <p:nvSpPr>
          <p:cNvPr id="77" name="Google Shape;77;p1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People hesitate to give honest feedback due to fear of judgement or exposure.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Lack of secure, anonymous platforms reduces openness and engagement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Target users: Students, employees and organizations seeking genuine  feedbacks.</a:t>
            </a: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Objectives of the Project</a:t>
            </a:r>
            <a:endParaRPr dirty="0"/>
          </a:p>
        </p:txBody>
      </p:sp>
      <p:sp>
        <p:nvSpPr>
          <p:cNvPr id="83" name="Google Shape;83;p1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To enable users to submit feedback anonymously(or non-anonymously) and securely.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To provide administrators with an organized system to view and manage collected feedback</a:t>
            </a: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Scope of the Project</a:t>
            </a:r>
            <a:endParaRPr/>
          </a:p>
        </p:txBody>
      </p:sp>
      <p:sp>
        <p:nvSpPr>
          <p:cNvPr id="89" name="Google Shape;89;p1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114300" lvl="0" indent="0" algn="l" rtl="0"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dirty="0"/>
              <a:t>What it includes:</a:t>
            </a:r>
          </a:p>
          <a:p>
            <a:r>
              <a:rPr lang="en-US" dirty="0"/>
              <a:t>Web-based platform for submitting and viewing anonymous feedback</a:t>
            </a:r>
          </a:p>
          <a:p>
            <a:r>
              <a:rPr lang="en-US" dirty="0"/>
              <a:t>Database storage for feedback entries</a:t>
            </a:r>
          </a:p>
          <a:p>
            <a:r>
              <a:rPr lang="en-US" dirty="0"/>
              <a:t>User authentication for administrators</a:t>
            </a:r>
          </a:p>
          <a:p>
            <a:endParaRPr lang="en-US" dirty="0"/>
          </a:p>
          <a:p>
            <a:pPr marL="114300" indent="0">
              <a:buNone/>
            </a:pPr>
            <a:r>
              <a:rPr lang="en-US" dirty="0"/>
              <a:t>Limitations:</a:t>
            </a:r>
          </a:p>
          <a:p>
            <a:r>
              <a:rPr lang="en-US" dirty="0"/>
              <a:t>Advanced analytics or reporting tools</a:t>
            </a:r>
          </a:p>
          <a:p>
            <a:r>
              <a:rPr lang="en-US" dirty="0"/>
              <a:t>Offline functionality or mobile app version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9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Proposed System Overview</a:t>
            </a:r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D7D7932-A317-D02E-3AAB-297F69DB6C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6406" y="0"/>
            <a:ext cx="3533152" cy="5143500"/>
          </a:xfrm>
          <a:prstGeom prst="rect">
            <a:avLst/>
          </a:prstGeo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A951352-D4CE-11BC-102B-4D6CC11DA8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0"/>
          <p:cNvSpPr txBox="1">
            <a:spLocks noGrp="1"/>
          </p:cNvSpPr>
          <p:nvPr>
            <p:ph type="title"/>
          </p:nvPr>
        </p:nvSpPr>
        <p:spPr>
          <a:xfrm>
            <a:off x="0" y="-17473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System Design</a:t>
            </a:r>
            <a:endParaRPr dirty="0"/>
          </a:p>
        </p:txBody>
      </p:sp>
      <p:sp>
        <p:nvSpPr>
          <p:cNvPr id="101" name="Google Shape;101;p2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3 Slides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DFD (Data Flow Diagram) Diagram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Use Case Diagram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ER Diagram (Entity Relationship Diagram) for database design</a:t>
            </a:r>
            <a:endParaRPr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8A7AC17-D018-5D6D-6A56-17BE9B9B38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88275"/>
            <a:ext cx="9144000" cy="4931764"/>
          </a:xfrm>
          <a:prstGeom prst="rect">
            <a:avLst/>
          </a:prstGeom>
        </p:spPr>
      </p:pic>
      <p:sp>
        <p:nvSpPr>
          <p:cNvPr id="4" name="Google Shape;100;p20">
            <a:extLst>
              <a:ext uri="{FF2B5EF4-FFF2-40B4-BE49-F238E27FC236}">
                <a16:creationId xmlns:a16="http://schemas.microsoft.com/office/drawing/2014/main" id="{FD564547-6271-AAE3-DBF7-8C8EB288CD4C}"/>
              </a:ext>
            </a:extLst>
          </p:cNvPr>
          <p:cNvSpPr txBox="1">
            <a:spLocks/>
          </p:cNvSpPr>
          <p:nvPr/>
        </p:nvSpPr>
        <p:spPr>
          <a:xfrm>
            <a:off x="0" y="2882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7500" lnSpcReduction="1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imes New Roman"/>
              <a:buNone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dirty="0"/>
              <a:t>Use case diagram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ED1E71-B19C-BA35-473B-91929E1C6D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74380" y="-97710"/>
            <a:ext cx="8520600" cy="572700"/>
          </a:xfrm>
        </p:spPr>
        <p:txBody>
          <a:bodyPr>
            <a:normAutofit/>
          </a:bodyPr>
          <a:lstStyle/>
          <a:p>
            <a:r>
              <a:rPr lang="en-US" sz="1800" dirty="0"/>
              <a:t>ER DIAGRAM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3C1B38-BAD6-1674-EBCF-18A66E8F50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913D2C6-222A-010B-45BF-5CA77EA1F6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9280"/>
            <a:ext cx="700024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55837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298C99-985B-975D-5F9C-FAA5F91982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84540" y="-93455"/>
            <a:ext cx="8520600" cy="572700"/>
          </a:xfrm>
        </p:spPr>
        <p:txBody>
          <a:bodyPr>
            <a:normAutofit fontScale="90000"/>
          </a:bodyPr>
          <a:lstStyle/>
          <a:p>
            <a:r>
              <a:rPr lang="en-US" dirty="0"/>
              <a:t>Data Flow Diagram (DFD)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1925EF-DD03-18FF-AA53-1E749B2682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F077249-C728-4F9C-990E-1833BECE80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20" y="356793"/>
            <a:ext cx="9144000" cy="47867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61992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Proposed Methodology</a:t>
            </a:r>
            <a:endParaRPr/>
          </a:p>
        </p:txBody>
      </p:sp>
      <p:sp>
        <p:nvSpPr>
          <p:cNvPr id="107" name="Google Shape;107;p2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Approach (e.g., Waterfall, Agile, Spiral, etc.)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Outline of Development Stages (In diagram)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2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Tools and Technologies</a:t>
            </a:r>
            <a:endParaRPr/>
          </a:p>
        </p:txBody>
      </p:sp>
      <p:sp>
        <p:nvSpPr>
          <p:cNvPr id="113" name="Google Shape;113;p2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Programming Language: PHP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Database: MySQL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Front-end: HTML, CSS, JavaScript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Server: Apache / Nginx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Others: Bootstrap, AJAX, etc. (if used)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Expected Outcomes</a:t>
            </a:r>
            <a:endParaRPr/>
          </a:p>
        </p:txBody>
      </p:sp>
      <p:sp>
        <p:nvSpPr>
          <p:cNvPr id="119" name="Google Shape;119;p2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Correct anonymity toggle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Successful submission</a:t>
            </a:r>
            <a:endParaRPr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Project Timeline</a:t>
            </a:r>
            <a:endParaRPr dirty="0"/>
          </a:p>
        </p:txBody>
      </p:sp>
      <p:sp>
        <p:nvSpPr>
          <p:cNvPr id="125" name="Google Shape;125;p2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Gantt chart diagram only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C9FEC96-6271-AF15-2B36-AE8F34EA92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700" y="882133"/>
            <a:ext cx="6773220" cy="416300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References</a:t>
            </a:r>
            <a:endParaRPr/>
          </a:p>
        </p:txBody>
      </p:sp>
      <p:sp>
        <p:nvSpPr>
          <p:cNvPr id="131" name="Google Shape;131;p2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r>
              <a:rPr lang="en-US" dirty="0"/>
              <a:t> Shaheen, A., Azam, F., &amp; Irshad, K. (2021, October). Anonymous Feedback: A real-time feedback to capture students’ engagement in learning process. In </a:t>
            </a:r>
            <a:r>
              <a:rPr lang="en-US" i="1" dirty="0"/>
              <a:t>International Conference on Medical Education (ICME 2021)</a:t>
            </a:r>
            <a:r>
              <a:rPr lang="en-US" dirty="0"/>
              <a:t> (pp. 65-68). Atlantis Press.</a:t>
            </a:r>
          </a:p>
          <a:p>
            <a:r>
              <a:rPr lang="en-US" dirty="0"/>
              <a:t> Frampton, A., Fox, F., Hollowood, A., </a:t>
            </a:r>
            <a:r>
              <a:rPr lang="en-US" dirty="0" err="1"/>
              <a:t>Northstone</a:t>
            </a:r>
            <a:r>
              <a:rPr lang="en-US" dirty="0"/>
              <a:t>, K., </a:t>
            </a:r>
            <a:r>
              <a:rPr lang="en-US" dirty="0" err="1"/>
              <a:t>Margelyte</a:t>
            </a:r>
            <a:r>
              <a:rPr lang="en-US" dirty="0"/>
              <a:t>, R., Smith-Clarke, S., &amp; Redwood, S. (2017). Using real-time, anonymous staff feedback to improve staff experience and engagement. </a:t>
            </a:r>
            <a:r>
              <a:rPr lang="en-US" i="1" dirty="0"/>
              <a:t>BMJ Quality Improvement Reports</a:t>
            </a:r>
            <a:r>
              <a:rPr lang="en-US" dirty="0"/>
              <a:t>, </a:t>
            </a:r>
            <a:r>
              <a:rPr lang="en-US" i="1" dirty="0"/>
              <a:t>6</a:t>
            </a:r>
            <a:r>
              <a:rPr lang="en-US" dirty="0"/>
              <a:t>(1).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endParaRPr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851BC1-8784-F7DA-0769-75B2D8411A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528" y="2201253"/>
            <a:ext cx="8520600" cy="1739375"/>
          </a:xfrm>
        </p:spPr>
        <p:txBody>
          <a:bodyPr>
            <a:normAutofit/>
          </a:bodyPr>
          <a:lstStyle/>
          <a:p>
            <a:pPr algn="ctr"/>
            <a:r>
              <a:rPr lang="en-US" sz="4800" dirty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4248140096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62</TotalTime>
  <Words>420</Words>
  <Application>Microsoft Office PowerPoint</Application>
  <PresentationFormat>On-screen Show (16:9)</PresentationFormat>
  <Paragraphs>70</Paragraphs>
  <Slides>16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Times New Roman</vt:lpstr>
      <vt:lpstr>Simple Light</vt:lpstr>
      <vt:lpstr>AnonAeon: Anonymous Feedback wall </vt:lpstr>
      <vt:lpstr>Contents</vt:lpstr>
      <vt:lpstr>Introduction</vt:lpstr>
      <vt:lpstr>Statement of Problem</vt:lpstr>
      <vt:lpstr>Objectives of the Project</vt:lpstr>
      <vt:lpstr>Scope of the Project</vt:lpstr>
      <vt:lpstr>Proposed System Overview</vt:lpstr>
      <vt:lpstr>System Design</vt:lpstr>
      <vt:lpstr>ER DIAGRAM</vt:lpstr>
      <vt:lpstr>Data Flow Diagram (DFD)</vt:lpstr>
      <vt:lpstr>Proposed Methodology</vt:lpstr>
      <vt:lpstr>Tools and Technologies</vt:lpstr>
      <vt:lpstr>Expected Outcomes</vt:lpstr>
      <vt:lpstr>Project Timeline</vt:lpstr>
      <vt:lpstr>References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Lumi N</dc:creator>
  <cp:lastModifiedBy>Lumi N</cp:lastModifiedBy>
  <cp:revision>2</cp:revision>
  <dcterms:modified xsi:type="dcterms:W3CDTF">2025-11-26T15:22:35Z</dcterms:modified>
</cp:coreProperties>
</file>